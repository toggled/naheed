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1"/>
  </p:sldMasterIdLst>
  <p:notesMasterIdLst>
    <p:notesMasterId r:id="rId3"/>
  </p:notesMasterIdLst>
  <p:handoutMasterIdLst>
    <p:handoutMasterId r:id="rId4"/>
  </p:handoutMasterIdLst>
  <p:sldIdLst>
    <p:sldId id="263" r:id="rId2"/>
  </p:sldIdLst>
  <p:sldSz cx="384048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34"/>
    <p:restoredTop sz="96683"/>
  </p:normalViewPr>
  <p:slideViewPr>
    <p:cSldViewPr snapToGrid="0">
      <p:cViewPr>
        <p:scale>
          <a:sx n="51" d="100"/>
          <a:sy n="51" d="100"/>
        </p:scale>
        <p:origin x="16" y="-7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6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s, Siddhartha Shankar" userId="37c27632-fb9d-4014-b42e-0ac60a369545" providerId="ADAL" clId="{5913B373-329C-53E8-BDCD-70A1BAE63EC6}"/>
    <pc:docChg chg="delSld">
      <pc:chgData name="Das, Siddhartha Shankar" userId="37c27632-fb9d-4014-b42e-0ac60a369545" providerId="ADAL" clId="{5913B373-329C-53E8-BDCD-70A1BAE63EC6}" dt="2026-08-04T20:22:16.342" v="6" actId="2696"/>
      <pc:docMkLst>
        <pc:docMk/>
      </pc:docMkLst>
      <pc:sldChg chg="del">
        <pc:chgData name="Das, Siddhartha Shankar" userId="37c27632-fb9d-4014-b42e-0ac60a369545" providerId="ADAL" clId="{5913B373-329C-53E8-BDCD-70A1BAE63EC6}" dt="2026-08-04T20:22:13.527" v="0" actId="2696"/>
        <pc:sldMkLst>
          <pc:docMk/>
          <pc:sldMk cId="1040724787" sldId="256"/>
        </pc:sldMkLst>
      </pc:sldChg>
      <pc:sldChg chg="del">
        <pc:chgData name="Das, Siddhartha Shankar" userId="37c27632-fb9d-4014-b42e-0ac60a369545" providerId="ADAL" clId="{5913B373-329C-53E8-BDCD-70A1BAE63EC6}" dt="2026-08-04T20:22:14.406" v="2" actId="2696"/>
        <pc:sldMkLst>
          <pc:docMk/>
          <pc:sldMk cId="2971382001" sldId="257"/>
        </pc:sldMkLst>
      </pc:sldChg>
      <pc:sldChg chg="del">
        <pc:chgData name="Das, Siddhartha Shankar" userId="37c27632-fb9d-4014-b42e-0ac60a369545" providerId="ADAL" clId="{5913B373-329C-53E8-BDCD-70A1BAE63EC6}" dt="2026-08-04T20:22:15.607" v="5" actId="2696"/>
        <pc:sldMkLst>
          <pc:docMk/>
          <pc:sldMk cId="2619978978" sldId="258"/>
        </pc:sldMkLst>
      </pc:sldChg>
      <pc:sldChg chg="del">
        <pc:chgData name="Das, Siddhartha Shankar" userId="37c27632-fb9d-4014-b42e-0ac60a369545" providerId="ADAL" clId="{5913B373-329C-53E8-BDCD-70A1BAE63EC6}" dt="2026-08-04T20:22:15.162" v="4" actId="2696"/>
        <pc:sldMkLst>
          <pc:docMk/>
          <pc:sldMk cId="0" sldId="259"/>
        </pc:sldMkLst>
      </pc:sldChg>
      <pc:sldChg chg="del">
        <pc:chgData name="Das, Siddhartha Shankar" userId="37c27632-fb9d-4014-b42e-0ac60a369545" providerId="ADAL" clId="{5913B373-329C-53E8-BDCD-70A1BAE63EC6}" dt="2026-08-04T20:22:16.342" v="6" actId="2696"/>
        <pc:sldMkLst>
          <pc:docMk/>
          <pc:sldMk cId="1698934901" sldId="260"/>
        </pc:sldMkLst>
      </pc:sldChg>
      <pc:sldChg chg="del">
        <pc:chgData name="Das, Siddhartha Shankar" userId="37c27632-fb9d-4014-b42e-0ac60a369545" providerId="ADAL" clId="{5913B373-329C-53E8-BDCD-70A1BAE63EC6}" dt="2026-08-04T20:22:14.030" v="1" actId="2696"/>
        <pc:sldMkLst>
          <pc:docMk/>
          <pc:sldMk cId="1496961724" sldId="261"/>
        </pc:sldMkLst>
      </pc:sldChg>
      <pc:sldChg chg="del">
        <pc:chgData name="Das, Siddhartha Shankar" userId="37c27632-fb9d-4014-b42e-0ac60a369545" providerId="ADAL" clId="{5913B373-329C-53E8-BDCD-70A1BAE63EC6}" dt="2026-08-04T20:22:14.679" v="3" actId="2696"/>
        <pc:sldMkLst>
          <pc:docMk/>
          <pc:sldMk cId="3199606774" sldId="26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E9BA93-B39F-7581-2357-BC0E92A0FB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B117A6-DFD0-75A6-0850-F1BFC42F06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9279B-E576-094A-924B-67AFCE831B8F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8A74CB-7DB6-3FDB-F574-E70A9243D3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58B6E-57CA-E485-7AAC-5D5B2559EE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30DD7-8CF0-AA47-982C-CF1B505C2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324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52874-C43F-A04D-AC65-CF4CDCB977A9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28775" y="1143000"/>
            <a:ext cx="3600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11825-7DEE-B744-BB4D-2F88E7FDE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67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80006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1pPr>
    <a:lvl2pPr marL="640003" algn="l" defTabSz="1280006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2pPr>
    <a:lvl3pPr marL="1280006" algn="l" defTabSz="1280006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3pPr>
    <a:lvl4pPr marL="1920009" algn="l" defTabSz="1280006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4pPr>
    <a:lvl5pPr marL="2560013" algn="l" defTabSz="1280006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5pPr>
    <a:lvl6pPr marL="3200016" algn="l" defTabSz="1280006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6pPr>
    <a:lvl7pPr marL="3840019" algn="l" defTabSz="1280006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7pPr>
    <a:lvl8pPr marL="4480022" algn="l" defTabSz="1280006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8pPr>
    <a:lvl9pPr marL="5120025" algn="l" defTabSz="1280006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360" y="5387342"/>
            <a:ext cx="32644080" cy="11460480"/>
          </a:xfrm>
        </p:spPr>
        <p:txBody>
          <a:bodyPr anchor="b"/>
          <a:lstStyle>
            <a:lvl1pPr algn="ctr">
              <a:defRPr sz="2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17289782"/>
            <a:ext cx="28803600" cy="7947658"/>
          </a:xfrm>
        </p:spPr>
        <p:txBody>
          <a:bodyPr/>
          <a:lstStyle>
            <a:lvl1pPr marL="0" indent="0" algn="ctr">
              <a:buNone/>
              <a:defRPr sz="10080"/>
            </a:lvl1pPr>
            <a:lvl2pPr marL="1920240" indent="0" algn="ctr">
              <a:buNone/>
              <a:defRPr sz="8400"/>
            </a:lvl2pPr>
            <a:lvl3pPr marL="3840480" indent="0" algn="ctr">
              <a:buNone/>
              <a:defRPr sz="7560"/>
            </a:lvl3pPr>
            <a:lvl4pPr marL="5760720" indent="0" algn="ctr">
              <a:buNone/>
              <a:defRPr sz="6720"/>
            </a:lvl4pPr>
            <a:lvl5pPr marL="7680960" indent="0" algn="ctr">
              <a:buNone/>
              <a:defRPr sz="6720"/>
            </a:lvl5pPr>
            <a:lvl6pPr marL="9601200" indent="0" algn="ctr">
              <a:buNone/>
              <a:defRPr sz="6720"/>
            </a:lvl6pPr>
            <a:lvl7pPr marL="11521440" indent="0" algn="ctr">
              <a:buNone/>
              <a:defRPr sz="6720"/>
            </a:lvl7pPr>
            <a:lvl8pPr marL="13441680" indent="0" algn="ctr">
              <a:buNone/>
              <a:defRPr sz="6720"/>
            </a:lvl8pPr>
            <a:lvl9pPr marL="15361920" indent="0" algn="ctr">
              <a:buNone/>
              <a:defRPr sz="67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BB98-1BF3-0B44-B0C1-492393F1A1A8}" type="datetimeFigureOut">
              <a:rPr lang="en-US" smtClean="0"/>
              <a:pPr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D7D3-89CA-A147-AA17-53B3066C16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9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BB98-1BF3-0B44-B0C1-492393F1A1A8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D7D3-89CA-A147-AA17-53B3066C1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6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330" y="8206749"/>
            <a:ext cx="33124140" cy="13693138"/>
          </a:xfrm>
        </p:spPr>
        <p:txBody>
          <a:bodyPr anchor="b"/>
          <a:lstStyle>
            <a:lvl1pPr>
              <a:defRPr sz="2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0330" y="22029429"/>
            <a:ext cx="33124140" cy="7200898"/>
          </a:xfrm>
        </p:spPr>
        <p:txBody>
          <a:bodyPr/>
          <a:lstStyle>
            <a:lvl1pPr marL="0" indent="0">
              <a:buNone/>
              <a:defRPr sz="10080">
                <a:solidFill>
                  <a:schemeClr val="tx1"/>
                </a:solidFill>
              </a:defRPr>
            </a:lvl1pPr>
            <a:lvl2pPr marL="1920240" indent="0">
              <a:buNone/>
              <a:defRPr sz="8400">
                <a:solidFill>
                  <a:schemeClr val="tx1">
                    <a:tint val="75000"/>
                  </a:schemeClr>
                </a:solidFill>
              </a:defRPr>
            </a:lvl2pPr>
            <a:lvl3pPr marL="3840480" indent="0">
              <a:buNone/>
              <a:defRPr sz="7560">
                <a:solidFill>
                  <a:schemeClr val="tx1">
                    <a:tint val="75000"/>
                  </a:schemeClr>
                </a:solidFill>
              </a:defRPr>
            </a:lvl3pPr>
            <a:lvl4pPr marL="57607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76809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96012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15214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3441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BB98-1BF3-0B44-B0C1-492393F1A1A8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D7D3-89CA-A147-AA17-53B3066C1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40330" y="8763000"/>
            <a:ext cx="1632204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42430" y="8763000"/>
            <a:ext cx="1632204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BB98-1BF3-0B44-B0C1-492393F1A1A8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D7D3-89CA-A147-AA17-53B3066C1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31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1752607"/>
            <a:ext cx="3312414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5336" y="8069582"/>
            <a:ext cx="16247028" cy="3954778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45336" y="12024360"/>
            <a:ext cx="16247028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442432" y="8069582"/>
            <a:ext cx="16327042" cy="3954778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442432" y="12024360"/>
            <a:ext cx="1632704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BB98-1BF3-0B44-B0C1-492393F1A1A8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D7D3-89CA-A147-AA17-53B3066C1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97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BB98-1BF3-0B44-B0C1-492393F1A1A8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D7D3-89CA-A147-AA17-53B3066C1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087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BB98-1BF3-0B44-B0C1-492393F1A1A8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D7D3-89CA-A147-AA17-53B3066C1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0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2194560"/>
            <a:ext cx="12386548" cy="768096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27042" y="4739647"/>
            <a:ext cx="19442430" cy="23393400"/>
          </a:xfrm>
        </p:spPr>
        <p:txBody>
          <a:bodyPr/>
          <a:lstStyle>
            <a:lvl1pPr>
              <a:defRPr sz="13440"/>
            </a:lvl1pPr>
            <a:lvl2pPr>
              <a:defRPr sz="11760"/>
            </a:lvl2pPr>
            <a:lvl3pPr>
              <a:defRPr sz="10080"/>
            </a:lvl3pPr>
            <a:lvl4pPr>
              <a:defRPr sz="8400"/>
            </a:lvl4pPr>
            <a:lvl5pPr>
              <a:defRPr sz="8400"/>
            </a:lvl5pPr>
            <a:lvl6pPr>
              <a:defRPr sz="8400"/>
            </a:lvl6pPr>
            <a:lvl7pPr>
              <a:defRPr sz="8400"/>
            </a:lvl7pPr>
            <a:lvl8pPr>
              <a:defRPr sz="8400"/>
            </a:lvl8pPr>
            <a:lvl9pPr>
              <a:defRPr sz="8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45332" y="9875520"/>
            <a:ext cx="12386548" cy="18295622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BB98-1BF3-0B44-B0C1-492393F1A1A8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D7D3-89CA-A147-AA17-53B3066C1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65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2194560"/>
            <a:ext cx="12386548" cy="768096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327042" y="4739647"/>
            <a:ext cx="19442430" cy="23393400"/>
          </a:xfrm>
        </p:spPr>
        <p:txBody>
          <a:bodyPr anchor="t"/>
          <a:lstStyle>
            <a:lvl1pPr marL="0" indent="0">
              <a:buNone/>
              <a:defRPr sz="13440"/>
            </a:lvl1pPr>
            <a:lvl2pPr marL="1920240" indent="0">
              <a:buNone/>
              <a:defRPr sz="11760"/>
            </a:lvl2pPr>
            <a:lvl3pPr marL="3840480" indent="0">
              <a:buNone/>
              <a:defRPr sz="10080"/>
            </a:lvl3pPr>
            <a:lvl4pPr marL="5760720" indent="0">
              <a:buNone/>
              <a:defRPr sz="8400"/>
            </a:lvl4pPr>
            <a:lvl5pPr marL="7680960" indent="0">
              <a:buNone/>
              <a:defRPr sz="8400"/>
            </a:lvl5pPr>
            <a:lvl6pPr marL="9601200" indent="0">
              <a:buNone/>
              <a:defRPr sz="8400"/>
            </a:lvl6pPr>
            <a:lvl7pPr marL="11521440" indent="0">
              <a:buNone/>
              <a:defRPr sz="8400"/>
            </a:lvl7pPr>
            <a:lvl8pPr marL="13441680" indent="0">
              <a:buNone/>
              <a:defRPr sz="8400"/>
            </a:lvl8pPr>
            <a:lvl9pPr marL="15361920" indent="0">
              <a:buNone/>
              <a:defRPr sz="8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45332" y="9875520"/>
            <a:ext cx="12386548" cy="18295622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BB98-1BF3-0B44-B0C1-492393F1A1A8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D7D3-89CA-A147-AA17-53B3066C1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2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BB98-1BF3-0B44-B0C1-492393F1A1A8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D7D3-89CA-A147-AA17-53B3066C1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01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483437" y="1752600"/>
            <a:ext cx="8281035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40332" y="1752600"/>
            <a:ext cx="24363045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BB98-1BF3-0B44-B0C1-492393F1A1A8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1D7D3-89CA-A147-AA17-53B3066C1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163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11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40330" y="1752607"/>
            <a:ext cx="3312414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0330" y="8763000"/>
            <a:ext cx="3312414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40330" y="30510487"/>
            <a:ext cx="86410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5BB98-1BF3-0B44-B0C1-492393F1A1A8}" type="datetimeFigureOut">
              <a:rPr lang="en-US" smtClean="0"/>
              <a:pPr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721590" y="30510487"/>
            <a:ext cx="129616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123390" y="30510487"/>
            <a:ext cx="86410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1D7D3-89CA-A147-AA17-53B3066C16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32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3840480" rtl="0" eaLnBrk="1" latinLnBrk="0" hangingPunct="1">
        <a:lnSpc>
          <a:spcPct val="90000"/>
        </a:lnSpc>
        <a:spcBef>
          <a:spcPct val="0"/>
        </a:spcBef>
        <a:buNone/>
        <a:defRPr sz="184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0120" indent="-960120" algn="l" defTabSz="3840480" rtl="0" eaLnBrk="1" latinLnBrk="0" hangingPunct="1">
        <a:lnSpc>
          <a:spcPct val="90000"/>
        </a:lnSpc>
        <a:spcBef>
          <a:spcPts val="4200"/>
        </a:spcBef>
        <a:buFont typeface="Arial" panose="020B0604020202020204" pitchFamily="34" charset="0"/>
        <a:buChar char="•"/>
        <a:defRPr sz="11760" kern="1200">
          <a:solidFill>
            <a:schemeClr val="tx1"/>
          </a:solidFill>
          <a:latin typeface="+mn-lt"/>
          <a:ea typeface="+mn-ea"/>
          <a:cs typeface="+mn-cs"/>
        </a:defRPr>
      </a:lvl1pPr>
      <a:lvl2pPr marL="28803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3pPr>
      <a:lvl4pPr marL="67208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1056132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24815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63220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1pPr>
      <a:lvl2pPr marL="19202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8404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768096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960120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15214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34416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53619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F486C-A28F-6D17-31AE-7DED042B3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8D2F87E-906B-A4A7-89BF-1878864A3EAA}"/>
              </a:ext>
            </a:extLst>
          </p:cNvPr>
          <p:cNvSpPr/>
          <p:nvPr/>
        </p:nvSpPr>
        <p:spPr>
          <a:xfrm>
            <a:off x="0" y="1"/>
            <a:ext cx="38404800" cy="36982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C8A34C40-AC74-C682-63E7-16F1ABD6FB37}"/>
              </a:ext>
            </a:extLst>
          </p:cNvPr>
          <p:cNvSpPr txBox="1"/>
          <p:nvPr/>
        </p:nvSpPr>
        <p:spPr>
          <a:xfrm>
            <a:off x="6640838" y="171465"/>
            <a:ext cx="26529577" cy="12526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326532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653064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979597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306129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632661" algn="l" defTabSz="653064" rtl="0" eaLnBrk="1" latinLnBrk="0" hangingPunct="1"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1959193" algn="l" defTabSz="653064" rtl="0" eaLnBrk="1" latinLnBrk="0" hangingPunct="1"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2285726" algn="l" defTabSz="653064" rtl="0" eaLnBrk="1" latinLnBrk="0" hangingPunct="1"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2612258" algn="l" defTabSz="653064" rtl="0" eaLnBrk="1" latinLnBrk="0" hangingPunct="1"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 defTabSz="2507516">
              <a:spcBef>
                <a:spcPct val="20000"/>
              </a:spcBef>
              <a:defRPr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SGS-GNN: A Supervised Graph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Sparsifier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Graph Neural Networks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107395C0-7B08-5A3D-5D61-8DF0CEC414A2}"/>
              </a:ext>
            </a:extLst>
          </p:cNvPr>
          <p:cNvSpPr txBox="1"/>
          <p:nvPr/>
        </p:nvSpPr>
        <p:spPr>
          <a:xfrm>
            <a:off x="6403511" y="1662026"/>
            <a:ext cx="27798195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326532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653064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979597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306129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632661" algn="l" defTabSz="653064" rtl="0" eaLnBrk="1" latinLnBrk="0" hangingPunct="1"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1959193" algn="l" defTabSz="653064" rtl="0" eaLnBrk="1" latinLnBrk="0" hangingPunct="1"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2285726" algn="l" defTabSz="653064" rtl="0" eaLnBrk="1" latinLnBrk="0" hangingPunct="1"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2612258" algn="l" defTabSz="653064" rtl="0" eaLnBrk="1" latinLnBrk="0" hangingPunct="1">
              <a:defRPr sz="2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Siddhartha Shankar Das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‡</a:t>
            </a:r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, Naheed Anjum Arafat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Muftiqur</a:t>
            </a:r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Rahman*, SM Ferdous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‡</a:t>
            </a:r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, Alex Pothen</a:t>
            </a:r>
            <a:r>
              <a:rPr lang="en-US" sz="3200" baseline="30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✣</a:t>
            </a:r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, </a:t>
            </a:r>
            <a:r>
              <a:rPr lang="en-US" sz="3200" baseline="30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Mahantesh </a:t>
            </a:r>
            <a:r>
              <a:rPr lang="en-US" sz="3200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Halappanavar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‡</a:t>
            </a:r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, Danda B. Rawat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</a:p>
          <a:p>
            <a:pPr algn="ctr">
              <a:defRPr/>
            </a:pPr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Pacific Northwest National Laboratory (PNNL)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‡</a:t>
            </a:r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, Howard University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, Islamic University of Technology*, Purdue University</a:t>
            </a:r>
            <a:r>
              <a:rPr lang="en-US" sz="3200" baseline="300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✣</a:t>
            </a:r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, </a:t>
            </a:r>
            <a:endParaRPr lang="en-US" sz="32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sz="32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Contact:</a:t>
            </a:r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siddhartha.das@pnnl.gov</a:t>
            </a:r>
          </a:p>
        </p:txBody>
      </p:sp>
      <p:sp>
        <p:nvSpPr>
          <p:cNvPr id="31" name="TextBox 39">
            <a:extLst>
              <a:ext uri="{FF2B5EF4-FFF2-40B4-BE49-F238E27FC236}">
                <a16:creationId xmlns:a16="http://schemas.microsoft.com/office/drawing/2014/main" id="{24883BA2-90E4-0901-13EB-E6590F62DB5C}"/>
              </a:ext>
            </a:extLst>
          </p:cNvPr>
          <p:cNvSpPr txBox="1"/>
          <p:nvPr/>
        </p:nvSpPr>
        <p:spPr>
          <a:xfrm>
            <a:off x="963989" y="3961084"/>
            <a:ext cx="4369466" cy="769441"/>
          </a:xfrm>
          <a:prstGeom prst="rect">
            <a:avLst/>
          </a:prstGeom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182880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26532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53064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79597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06129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32661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59193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85726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612258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SGS-GNN?</a:t>
            </a:r>
          </a:p>
        </p:txBody>
      </p:sp>
      <p:sp>
        <p:nvSpPr>
          <p:cNvPr id="32" name="TextBox 40">
            <a:extLst>
              <a:ext uri="{FF2B5EF4-FFF2-40B4-BE49-F238E27FC236}">
                <a16:creationId xmlns:a16="http://schemas.microsoft.com/office/drawing/2014/main" id="{26AF57E5-F49C-BA1A-0682-A5E3EFEA83BB}"/>
              </a:ext>
            </a:extLst>
          </p:cNvPr>
          <p:cNvSpPr txBox="1"/>
          <p:nvPr/>
        </p:nvSpPr>
        <p:spPr>
          <a:xfrm>
            <a:off x="12670398" y="4000131"/>
            <a:ext cx="7382534" cy="769441"/>
          </a:xfrm>
          <a:prstGeom prst="rect">
            <a:avLst/>
          </a:prstGeom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182880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26532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53064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79597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06129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32661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59193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85726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612258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Method: SGS-GNN</a:t>
            </a:r>
          </a:p>
        </p:txBody>
      </p:sp>
      <p:sp>
        <p:nvSpPr>
          <p:cNvPr id="33" name="TextBox 41">
            <a:extLst>
              <a:ext uri="{FF2B5EF4-FFF2-40B4-BE49-F238E27FC236}">
                <a16:creationId xmlns:a16="http://schemas.microsoft.com/office/drawing/2014/main" id="{885FE26D-B549-1B3F-9229-8F646CC83F91}"/>
              </a:ext>
            </a:extLst>
          </p:cNvPr>
          <p:cNvSpPr txBox="1"/>
          <p:nvPr/>
        </p:nvSpPr>
        <p:spPr>
          <a:xfrm>
            <a:off x="26430559" y="10890366"/>
            <a:ext cx="3144772" cy="769441"/>
          </a:xfrm>
          <a:prstGeom prst="rect">
            <a:avLst/>
          </a:prstGeom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182880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26532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53064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79597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06129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32661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59193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85726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612258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</a:t>
            </a:r>
          </a:p>
        </p:txBody>
      </p:sp>
      <p:pic>
        <p:nvPicPr>
          <p:cNvPr id="39" name="Picture 2" descr="Image result for purdue logo">
            <a:extLst>
              <a:ext uri="{FF2B5EF4-FFF2-40B4-BE49-F238E27FC236}">
                <a16:creationId xmlns:a16="http://schemas.microsoft.com/office/drawing/2014/main" id="{A60E063E-C8D1-B5A6-8A38-FD3B048D5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2228" y="2192080"/>
            <a:ext cx="1996514" cy="1292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0720CE4-FCB7-BA06-9F3A-420131C809D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5528" y="1811127"/>
            <a:ext cx="1755126" cy="1712713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6C16A54B-FBD1-FD37-757C-467986964998}"/>
              </a:ext>
            </a:extLst>
          </p:cNvPr>
          <p:cNvSpPr/>
          <p:nvPr/>
        </p:nvSpPr>
        <p:spPr>
          <a:xfrm>
            <a:off x="0" y="32644540"/>
            <a:ext cx="38404800" cy="2738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3DE4AA-483A-7706-AA3A-A86937D03BA5}"/>
              </a:ext>
            </a:extLst>
          </p:cNvPr>
          <p:cNvSpPr txBox="1"/>
          <p:nvPr/>
        </p:nvSpPr>
        <p:spPr>
          <a:xfrm>
            <a:off x="466172" y="4931761"/>
            <a:ext cx="11332538" cy="10926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GNNs typically process all graph edges, increasing computation and GPU memory while propagating information through noisy or task-irrelevant connections. Existing supervised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sparsifiers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often lack precise global sparsity control, retain costly edge-level computation graphs, and overlook graph homophily and heterophily.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SGS-GNN addresses these limitations in the following manner: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Precise Sparsity Control: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Explicitly samples a subgraph that strictly satisfies the target global sparsity ratio.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Learning: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Backpropagates only through sampled edges and uses gradient checkpointing for efficient training.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GPU Memory: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retaining edge-level computation graphs and gradients for pruned edges.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Reliable Performance: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the edge scorer only when it outperforms a strong degree-based sampler, preventing degradation below the baseline.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40">
            <a:extLst>
              <a:ext uri="{FF2B5EF4-FFF2-40B4-BE49-F238E27FC236}">
                <a16:creationId xmlns:a16="http://schemas.microsoft.com/office/drawing/2014/main" id="{B883AA88-4C3A-B1AE-12C9-6A8EBBD4925A}"/>
              </a:ext>
            </a:extLst>
          </p:cNvPr>
          <p:cNvSpPr txBox="1"/>
          <p:nvPr/>
        </p:nvSpPr>
        <p:spPr>
          <a:xfrm>
            <a:off x="12591047" y="20544596"/>
            <a:ext cx="9117134" cy="707886"/>
          </a:xfrm>
          <a:prstGeom prst="rect">
            <a:avLst/>
          </a:prstGeom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82880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26532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53064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79597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06129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32661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59193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85726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612258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Edges Are Removed?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4CBC3742-19C2-76C7-4A94-E4E67F3216D6}"/>
              </a:ext>
            </a:extLst>
          </p:cNvPr>
          <p:cNvSpPr txBox="1"/>
          <p:nvPr/>
        </p:nvSpPr>
        <p:spPr>
          <a:xfrm>
            <a:off x="12048644" y="30574432"/>
            <a:ext cx="13034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Four inductive-bias cases guiding edge removal (training nodes have red borders)</a:t>
            </a:r>
          </a:p>
        </p:txBody>
      </p:sp>
      <p:sp>
        <p:nvSpPr>
          <p:cNvPr id="30" name="TextBox 1">
            <a:extLst>
              <a:ext uri="{FF2B5EF4-FFF2-40B4-BE49-F238E27FC236}">
                <a16:creationId xmlns:a16="http://schemas.microsoft.com/office/drawing/2014/main" id="{5B231045-DE74-53F9-9541-926090BD92D2}"/>
              </a:ext>
            </a:extLst>
          </p:cNvPr>
          <p:cNvSpPr txBox="1"/>
          <p:nvPr/>
        </p:nvSpPr>
        <p:spPr>
          <a:xfrm>
            <a:off x="963989" y="15394160"/>
            <a:ext cx="10594122" cy="769441"/>
          </a:xfrm>
          <a:prstGeom prst="rect">
            <a:avLst/>
          </a:prstGeom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82880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26532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53064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79597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06129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32661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59193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85726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612258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Study: Heterophilic Graph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BBCCA4D0-6686-C757-9FCB-A12653D11F8B}"/>
              </a:ext>
            </a:extLst>
          </p:cNvPr>
          <p:cNvSpPr txBox="1"/>
          <p:nvPr/>
        </p:nvSpPr>
        <p:spPr>
          <a:xfrm>
            <a:off x="25762977" y="31285223"/>
            <a:ext cx="120562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work used computing resources at PNNL and Purdue University and was supported by DOE Advanced Computing Technologies, PNNL LDRD, DOE grant SC-0022260, and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-AIML at Howard University under Contract W911NF-20-2-0277. PNNL is operated by Battelle under Contract DE-AC05-76RL01830. The views expressed are those of the authors.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B8286576-1555-41E8-204F-F8AE202D6BD9}"/>
                  </a:ext>
                </a:extLst>
              </p:cNvPr>
              <p:cNvSpPr txBox="1"/>
              <p:nvPr/>
            </p:nvSpPr>
            <p:spPr>
              <a:xfrm>
                <a:off x="494908" y="28608665"/>
                <a:ext cx="10972583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1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Comparison of the full graph,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NeuralSparse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SparseGAT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SGS-GNN on a heterophilic graph (|𝒢| = 150, |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ℰ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| = 870, Train = 3%). The top row shows the input graph and the sampled sparse subgraphs along with edge homophily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dirty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The bottom row shows the corresponding node embeddings and F1 scores. SGS-GNN better preserves task-relevant structure in the sparse subgraph, yielding perfect prediction performance.</a:t>
                </a:r>
              </a:p>
            </p:txBody>
          </p:sp>
        </mc:Choice>
        <mc:Fallback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B8286576-1555-41E8-204F-F8AE202D6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08" y="28608665"/>
                <a:ext cx="10972583" cy="3539430"/>
              </a:xfrm>
              <a:prstGeom prst="rect">
                <a:avLst/>
              </a:prstGeom>
              <a:blipFill>
                <a:blip r:embed="rId4"/>
                <a:stretch>
                  <a:fillRect l="-1387" t="-2143" r="-1387" b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4" name="TextBox 1043">
            <a:extLst>
              <a:ext uri="{FF2B5EF4-FFF2-40B4-BE49-F238E27FC236}">
                <a16:creationId xmlns:a16="http://schemas.microsoft.com/office/drawing/2014/main" id="{56009841-47CC-2A6F-A4B6-89AFD0050319}"/>
              </a:ext>
            </a:extLst>
          </p:cNvPr>
          <p:cNvSpPr txBox="1"/>
          <p:nvPr/>
        </p:nvSpPr>
        <p:spPr>
          <a:xfrm>
            <a:off x="12157240" y="9620302"/>
            <a:ext cx="257813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SGS-GNN starts by computing edge sampling probabilities, then the sampler selects sparse subgraphs, and the downstream GNN operates on the sampled edges. To reduce high memory cost of edge-scorer, SGS-GNN applies gradient checkpointing and updates only if supervised sampling is beneficial.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D94CC27-A5DD-829F-A589-A79962EB4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27346" y="647678"/>
            <a:ext cx="2283332" cy="259004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A5DED55-6AE2-DEFB-9C04-949807D077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40440" y="653695"/>
            <a:ext cx="2283330" cy="2590048"/>
          </a:xfrm>
          <a:prstGeom prst="rect">
            <a:avLst/>
          </a:prstGeom>
        </p:spPr>
      </p:pic>
      <p:pic>
        <p:nvPicPr>
          <p:cNvPr id="26" name="Picture 25" descr="KDD 2026 Logo">
            <a:extLst>
              <a:ext uri="{FF2B5EF4-FFF2-40B4-BE49-F238E27FC236}">
                <a16:creationId xmlns:a16="http://schemas.microsoft.com/office/drawing/2014/main" id="{2DDF84BC-5E73-6DB1-1B02-692C6BC9E6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246" y="140190"/>
            <a:ext cx="5212136" cy="1530748"/>
          </a:xfrm>
          <a:prstGeom prst="rect">
            <a:avLst/>
          </a:prstGeom>
        </p:spPr>
      </p:pic>
      <p:pic>
        <p:nvPicPr>
          <p:cNvPr id="28" name="Picture 27" descr="Logo Usage | Howard University OUC">
            <a:extLst>
              <a:ext uri="{FF2B5EF4-FFF2-40B4-BE49-F238E27FC236}">
                <a16:creationId xmlns:a16="http://schemas.microsoft.com/office/drawing/2014/main" id="{EFA284C5-CC69-FBEA-5626-7A24C6117A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4360" y="1851574"/>
            <a:ext cx="1494162" cy="167569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6D98E98-12D5-E9BE-3293-4179813D136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400" t="4137" r="1400" b="35633"/>
          <a:stretch>
            <a:fillRect/>
          </a:stretch>
        </p:blipFill>
        <p:spPr>
          <a:xfrm>
            <a:off x="294594" y="20676943"/>
            <a:ext cx="11408147" cy="696917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1F097F8-05AD-1C3B-69F9-26528F63304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-4568"/>
          <a:stretch>
            <a:fillRect/>
          </a:stretch>
        </p:blipFill>
        <p:spPr>
          <a:xfrm>
            <a:off x="12291520" y="25720668"/>
            <a:ext cx="13034480" cy="414619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75EC638-1B3B-F7BE-DBF2-779C9D971CF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52536"/>
          <a:stretch>
            <a:fillRect/>
          </a:stretch>
        </p:blipFill>
        <p:spPr>
          <a:xfrm>
            <a:off x="14991711" y="4851543"/>
            <a:ext cx="20246033" cy="4385894"/>
          </a:xfrm>
          <a:prstGeom prst="rect">
            <a:avLst/>
          </a:prstGeom>
        </p:spPr>
      </p:pic>
      <p:sp>
        <p:nvSpPr>
          <p:cNvPr id="51" name="TextBox 40">
            <a:extLst>
              <a:ext uri="{FF2B5EF4-FFF2-40B4-BE49-F238E27FC236}">
                <a16:creationId xmlns:a16="http://schemas.microsoft.com/office/drawing/2014/main" id="{D24F3549-E026-90AD-FBCA-259C3841A29C}"/>
              </a:ext>
            </a:extLst>
          </p:cNvPr>
          <p:cNvSpPr txBox="1"/>
          <p:nvPr/>
        </p:nvSpPr>
        <p:spPr>
          <a:xfrm>
            <a:off x="12623734" y="10912645"/>
            <a:ext cx="3795398" cy="769441"/>
          </a:xfrm>
          <a:prstGeom prst="rect">
            <a:avLst/>
          </a:prstGeom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182880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26532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53064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979597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06129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32661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59193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85726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612258" algn="l" defTabSz="653064" rtl="0" eaLnBrk="1" latinLnBrk="0" hangingPunct="1">
              <a:defRPr sz="25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Steps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F414E9-2D17-5914-20B3-7ABEB64D7E67}"/>
              </a:ext>
            </a:extLst>
          </p:cNvPr>
          <p:cNvSpPr txBox="1"/>
          <p:nvPr/>
        </p:nvSpPr>
        <p:spPr>
          <a:xfrm>
            <a:off x="25934473" y="11799293"/>
            <a:ext cx="118109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graphs evaluated</a:t>
            </a:r>
          </a:p>
          <a:p>
            <a:pPr lvl="0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4–7%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better F1 than prior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sparsifiers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similar sparsity</a:t>
            </a:r>
          </a:p>
          <a:p>
            <a:pPr lvl="0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to 30%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improvement on heterophilic graphs</a:t>
            </a:r>
          </a:p>
          <a:p>
            <a:pPr lvl="0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to 3.9×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lower peak memory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9A2331F1-DD9F-7261-FE2B-61B4FA64336E}"/>
                  </a:ext>
                </a:extLst>
              </p:cNvPr>
              <p:cNvSpPr txBox="1"/>
              <p:nvPr/>
            </p:nvSpPr>
            <p:spPr>
              <a:xfrm>
                <a:off x="12157240" y="11818478"/>
                <a:ext cx="13176379" cy="8571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Start with a strong unsupervised prior: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degree-based sampler creates an initial sparse graph that preserves important connections. </a:t>
                </a:r>
              </a:p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example,  edge sampling proability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prior</m:t>
                        </m:r>
                      </m:sub>
                    </m:sSub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)∝(1/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+1/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another option effective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2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i="1">
                            <a:latin typeface="Cambria Math" panose="02040503050406030204" pitchFamily="18" charset="0"/>
                          </a:rPr>
                          <m:t>prior</m:t>
                        </m:r>
                      </m:sub>
                    </m:sSub>
                    <m:r>
                      <a:rPr lang="en-US" sz="32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)∝ </m:t>
                    </m:r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p>
                    </m:sSup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2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Score the original Edges: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neighborhood-aware encoder (GNN with sampled edges and Edge Scorer) estimates how useful each edge is for the prediction task.</a:t>
                </a:r>
              </a:p>
              <a:p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2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Sample Edges within Budget: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SGS-GNN samples exactly the user-specified percentage of edges using both learned scores and the degree prior.</a:t>
                </a:r>
              </a:p>
              <a:p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2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Train on the Sampled Sparse Graph: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downstream GNN learns using only the selected edges, reducing message-passing and memory costs.</a:t>
                </a:r>
              </a:p>
              <a:p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2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Update Only When Helpful: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edge scorer is updated only when its sampled graph outperforms the degree-based baseline.</a:t>
                </a:r>
              </a:p>
            </p:txBody>
          </p:sp>
        </mc:Choice>
        <mc:Fallback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9A2331F1-DD9F-7261-FE2B-61B4FA643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7240" y="11818478"/>
                <a:ext cx="13176379" cy="8571770"/>
              </a:xfrm>
              <a:prstGeom prst="rect">
                <a:avLst/>
              </a:prstGeom>
              <a:blipFill>
                <a:blip r:embed="rId12"/>
                <a:stretch>
                  <a:fillRect l="-1156" t="-888" r="-1445" b="-1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1" name="TextBox 1050">
                <a:extLst>
                  <a:ext uri="{FF2B5EF4-FFF2-40B4-BE49-F238E27FC236}">
                    <a16:creationId xmlns:a16="http://schemas.microsoft.com/office/drawing/2014/main" id="{F972E617-FB31-1E70-613E-4FA862505207}"/>
                  </a:ext>
                </a:extLst>
              </p:cNvPr>
              <p:cNvSpPr txBox="1"/>
              <p:nvPr/>
            </p:nvSpPr>
            <p:spPr>
              <a:xfrm>
                <a:off x="12048644" y="21628496"/>
                <a:ext cx="13284975" cy="4075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SGS-GNN prefers to drop following types of edges from the graphs.</a:t>
                </a:r>
              </a:p>
              <a:p>
                <a:endParaRPr lang="en-US" sz="32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𝐏</m:t>
                        </m:r>
                      </m:e>
                      <m:sub>
                        <m:r>
                          <a:rPr lang="en-US" sz="3200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𝐩𝐫𝐢𝐨𝐫</m:t>
                        </m:r>
                      </m:sub>
                    </m:sSub>
                  </m:oMath>
                </a14:m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Unsupervised prior prefers bridge edges and drops non-bridge edges </a:t>
                </a:r>
              </a:p>
              <a:p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𝐋</m:t>
                        </m:r>
                      </m:e>
                      <m:sub>
                        <m:r>
                          <a:rPr lang="en-US" sz="3200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𝐂𝐄</m:t>
                        </m:r>
                      </m:sub>
                    </m:sSub>
                  </m:oMath>
                </a14:m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Remove task-irrelevant edges by down-weighting them.</a:t>
                </a:r>
              </a:p>
              <a:p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(III)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𝐋</m:t>
                        </m:r>
                      </m:e>
                      <m:sub>
                        <m:r>
                          <a:rPr lang="en-US" sz="32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𝐚𝐬𝐬𝐨𝐫</m:t>
                        </m:r>
                      </m:sub>
                    </m:sSub>
                  </m:oMath>
                </a14:m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Discourages heterophilic labeled edges through this regularizers.</a:t>
                </a:r>
              </a:p>
              <a:p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(IV)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𝐋</m:t>
                        </m:r>
                      </m:e>
                      <m:sub>
                        <m:r>
                          <a:rPr lang="en-US" sz="32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𝐜𝐨𝐧𝐬</m:t>
                        </m:r>
                      </m:sub>
                    </m:sSub>
                  </m:oMath>
                </a14:m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Discourages  edges where inconsistency between edge-weight and embedding-distance presents.</a:t>
                </a:r>
              </a:p>
              <a:p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51" name="TextBox 1050">
                <a:extLst>
                  <a:ext uri="{FF2B5EF4-FFF2-40B4-BE49-F238E27FC236}">
                    <a16:creationId xmlns:a16="http://schemas.microsoft.com/office/drawing/2014/main" id="{F972E617-FB31-1E70-613E-4FA862505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8644" y="21628496"/>
                <a:ext cx="13284975" cy="4075924"/>
              </a:xfrm>
              <a:prstGeom prst="rect">
                <a:avLst/>
              </a:prstGeom>
              <a:blipFill>
                <a:blip r:embed="rId13"/>
                <a:stretch>
                  <a:fillRect l="-1146" t="-2174" r="-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4" name="TextBox 1053">
            <a:extLst>
              <a:ext uri="{FF2B5EF4-FFF2-40B4-BE49-F238E27FC236}">
                <a16:creationId xmlns:a16="http://schemas.microsoft.com/office/drawing/2014/main" id="{334B3486-50A0-1EDE-00DD-F767FEDCA0C9}"/>
              </a:ext>
            </a:extLst>
          </p:cNvPr>
          <p:cNvSpPr txBox="1"/>
          <p:nvPr/>
        </p:nvSpPr>
        <p:spPr>
          <a:xfrm>
            <a:off x="494908" y="16390960"/>
            <a:ext cx="112840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is a two half-moon heterophilic graph, with edge homophily of 0.32 meaning only 32% of edges connect vertices of the same class.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GNN using the full graph is only about 81% accurate. Compared to others only SGS-GNN can find sparse-subgraphs with 100% edge homophily to yield 100% accuracy.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56" name="Picture 1055">
            <a:extLst>
              <a:ext uri="{FF2B5EF4-FFF2-40B4-BE49-F238E27FC236}">
                <a16:creationId xmlns:a16="http://schemas.microsoft.com/office/drawing/2014/main" id="{CAC784B0-B3DB-2909-FD18-1C2300CB07F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353542" y="24717231"/>
            <a:ext cx="10629807" cy="3512537"/>
          </a:xfrm>
          <a:prstGeom prst="rect">
            <a:avLst/>
          </a:prstGeom>
        </p:spPr>
      </p:pic>
      <p:sp>
        <p:nvSpPr>
          <p:cNvPr id="1059" name="TextBox 1058">
            <a:extLst>
              <a:ext uri="{FF2B5EF4-FFF2-40B4-BE49-F238E27FC236}">
                <a16:creationId xmlns:a16="http://schemas.microsoft.com/office/drawing/2014/main" id="{3D4E855B-074C-A087-0F68-2DB250774DAD}"/>
              </a:ext>
            </a:extLst>
          </p:cNvPr>
          <p:cNvSpPr txBox="1"/>
          <p:nvPr/>
        </p:nvSpPr>
        <p:spPr>
          <a:xfrm>
            <a:off x="25751659" y="28381720"/>
            <a:ext cx="121412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Peak GPU memory (GB). SGS*/SGS+ denote runs without/with gradient checkpointing. For each dataset, the minimum memory is normalized to 1.0 (bold); parentheses show relative factors. Imp.(%) reports the memory reduction from checkpointing. #-METIS partitions of SGS-GNN; NS: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NeuralSparse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SG: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SparseGAT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60" name="Picture 1059">
            <a:extLst>
              <a:ext uri="{FF2B5EF4-FFF2-40B4-BE49-F238E27FC236}">
                <a16:creationId xmlns:a16="http://schemas.microsoft.com/office/drawing/2014/main" id="{12E44CC4-5FDE-6060-75BE-47232989408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933355" y="14004192"/>
            <a:ext cx="9289245" cy="8945198"/>
          </a:xfrm>
          <a:prstGeom prst="rect">
            <a:avLst/>
          </a:prstGeom>
        </p:spPr>
      </p:pic>
      <p:sp>
        <p:nvSpPr>
          <p:cNvPr id="1061" name="TextBox 1060">
            <a:extLst>
              <a:ext uri="{FF2B5EF4-FFF2-40B4-BE49-F238E27FC236}">
                <a16:creationId xmlns:a16="http://schemas.microsoft.com/office/drawing/2014/main" id="{BC4F2EFC-5C88-DD3C-5831-5003A6ABF491}"/>
              </a:ext>
            </a:extLst>
          </p:cNvPr>
          <p:cNvSpPr txBox="1"/>
          <p:nvPr/>
        </p:nvSpPr>
        <p:spPr>
          <a:xfrm>
            <a:off x="25762977" y="23066101"/>
            <a:ext cx="118109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 F1-score (%) ± std. dev. for baseline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sparsifiers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20% edges. Bold: best method. OOM: out of memory. GM: geometric mean, computed over datasets where all methods report results</a:t>
            </a:r>
          </a:p>
        </p:txBody>
      </p:sp>
    </p:spTree>
    <p:extLst>
      <p:ext uri="{BB962C8B-B14F-4D97-AF65-F5344CB8AC3E}">
        <p14:creationId xmlns:p14="http://schemas.microsoft.com/office/powerpoint/2010/main" val="1860797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7402</TotalTime>
  <Words>833</Words>
  <Application>Microsoft Macintosh PowerPoint</Application>
  <PresentationFormat>Custom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Cambria Math</vt:lpstr>
      <vt:lpstr>Times New Roman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Das, Siddhartha Shankar</dc:creator>
  <cp:lastModifiedBy>Das, Siddhartha Shankar</cp:lastModifiedBy>
  <cp:revision>73</cp:revision>
  <cp:lastPrinted>2026-08-03T22:48:05Z</cp:lastPrinted>
  <dcterms:created xsi:type="dcterms:W3CDTF">2023-10-22T19:54:47Z</dcterms:created>
  <dcterms:modified xsi:type="dcterms:W3CDTF">2026-08-04T20:22:23Z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606f69-b0ae-4874-be30-7d43a3c7be10_Enabled">
    <vt:lpwstr>true</vt:lpwstr>
  </property>
  <property fmtid="{D5CDD505-2E9C-101B-9397-08002B2CF9AE}" pid="3" name="MSIP_Label_f7606f69-b0ae-4874-be30-7d43a3c7be10_SetDate">
    <vt:lpwstr>2025-03-14T20:25:03Z</vt:lpwstr>
  </property>
  <property fmtid="{D5CDD505-2E9C-101B-9397-08002B2CF9AE}" pid="4" name="MSIP_Label_f7606f69-b0ae-4874-be30-7d43a3c7be10_Method">
    <vt:lpwstr>Standard</vt:lpwstr>
  </property>
  <property fmtid="{D5CDD505-2E9C-101B-9397-08002B2CF9AE}" pid="5" name="MSIP_Label_f7606f69-b0ae-4874-be30-7d43a3c7be10_Name">
    <vt:lpwstr>defa4170-0d19-0005-0001-bc88714345d2</vt:lpwstr>
  </property>
  <property fmtid="{D5CDD505-2E9C-101B-9397-08002B2CF9AE}" pid="6" name="MSIP_Label_f7606f69-b0ae-4874-be30-7d43a3c7be10_SiteId">
    <vt:lpwstr>4130bd39-7c53-419c-b1e5-8758d6d63f21</vt:lpwstr>
  </property>
  <property fmtid="{D5CDD505-2E9C-101B-9397-08002B2CF9AE}" pid="7" name="MSIP_Label_f7606f69-b0ae-4874-be30-7d43a3c7be10_ActionId">
    <vt:lpwstr>81f9e1cd-881f-46a2-9284-b2eb9998106b</vt:lpwstr>
  </property>
  <property fmtid="{D5CDD505-2E9C-101B-9397-08002B2CF9AE}" pid="8" name="MSIP_Label_f7606f69-b0ae-4874-be30-7d43a3c7be10_ContentBits">
    <vt:lpwstr>0</vt:lpwstr>
  </property>
  <property fmtid="{D5CDD505-2E9C-101B-9397-08002B2CF9AE}" pid="9" name="MSIP_Label_f7606f69-b0ae-4874-be30-7d43a3c7be10_Tag">
    <vt:lpwstr>50, 3, 0, 1</vt:lpwstr>
  </property>
</Properties>
</file>