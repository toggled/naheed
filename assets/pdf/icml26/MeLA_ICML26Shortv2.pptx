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7" r:id="rId8"/>
    <p:sldId id="265" r:id="rId9"/>
    <p:sldId id="26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2DE63D5-997A-4646-A377-4702673A728D}" styleName="Light Style 2 –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890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68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C9ACD-CE91-4384-BEF4-1A745C230C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059DB4-7849-4A59-94E0-0D59B28F29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BB6121-BEEE-4362-90E1-9C6A3DBE2C1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8753034-19CA-454E-BB84-175DE32432B3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6BC58-9576-4558-87D0-85D4CC8D4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73715-E858-4ED2-9F1A-A257F9940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3DBD8-FB7E-46FE-9ABA-8AC6B7A2D4FC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F68944-5783-44D4-AD2E-245F7AD8E16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881941" y="178281"/>
            <a:ext cx="3609324" cy="1041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90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C14C7-561E-440F-B6F2-99A5C4788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728"/>
            <a:ext cx="10515600" cy="94714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C5356-6F06-4750-8526-87A03F53D3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6144"/>
            <a:ext cx="10515600" cy="508081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2361EF-F18F-4D9A-868A-1C6A9CDFA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507782-1A66-438F-9AF2-1595E5D8E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3DBD8-FB7E-46FE-9ABA-8AC6B7A2D4FC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21A280-8F1E-4E51-AFE1-E4C2006DCD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6157478"/>
            <a:ext cx="2325756" cy="670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300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8824A4-F3CC-4F29-AAD2-7ED62AB3A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CB894-6964-4EF4-AC3D-21B0D89DB1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7B7693-9145-45D7-A117-A068E4283F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9BC671-7D48-44D0-9446-AE835289D7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3DBD8-FB7E-46FE-9ABA-8AC6B7A2D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683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65E2E-CB5F-4162-95BC-735B2D9929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629" y="1854201"/>
            <a:ext cx="11916228" cy="1054252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Adversarial Attacks and Robust Training for Hypergraph Neural Networks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91EAAF-76FD-4E2E-8D47-1E530B1ABA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809411"/>
          </a:xfrm>
        </p:spPr>
        <p:txBody>
          <a:bodyPr>
            <a:normAutofit/>
          </a:bodyPr>
          <a:lstStyle/>
          <a:p>
            <a:r>
              <a:rPr lang="en-US" sz="2000" b="1" dirty="0"/>
              <a:t>Naheed</a:t>
            </a:r>
            <a:r>
              <a:rPr lang="en-US" sz="2000" dirty="0"/>
              <a:t> </a:t>
            </a:r>
            <a:r>
              <a:rPr lang="en-US" sz="2000" b="1" dirty="0"/>
              <a:t>Anjum Arafat, Howard University, USA</a:t>
            </a:r>
          </a:p>
          <a:p>
            <a:r>
              <a:rPr lang="en-US" sz="2000" dirty="0" err="1"/>
              <a:t>Debabrota</a:t>
            </a:r>
            <a:r>
              <a:rPr lang="en-US" sz="2000" dirty="0"/>
              <a:t> Basu, INRIA, France</a:t>
            </a:r>
          </a:p>
          <a:p>
            <a:r>
              <a:rPr lang="en-US" sz="2000" dirty="0"/>
              <a:t>Yulia R. Gel, Virginia Tech, USA</a:t>
            </a:r>
          </a:p>
          <a:p>
            <a:r>
              <a:rPr lang="en-US" sz="2000" dirty="0"/>
              <a:t>Danda B. Rawat, Howard University, USA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EB3821C-E77A-810A-7DEF-3B192334C8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08498" y="170938"/>
            <a:ext cx="2283502" cy="794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480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8DB6F-F306-D3E7-25DF-A337F82C2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E0A9F-A579-7A5B-2CEA-A3E03EDB84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6145"/>
            <a:ext cx="10515600" cy="3927117"/>
          </a:xfrm>
        </p:spPr>
        <p:txBody>
          <a:bodyPr>
            <a:normAutofit/>
          </a:bodyPr>
          <a:lstStyle/>
          <a:p>
            <a:r>
              <a:rPr lang="en-US" sz="2400" dirty="0"/>
              <a:t>Hypergraphs model higher-order relations beyond pairwise edges.</a:t>
            </a:r>
          </a:p>
          <a:p>
            <a:pPr lvl="1"/>
            <a:r>
              <a:rPr lang="en-US" sz="2000" b="1" dirty="0"/>
              <a:t>Examples: </a:t>
            </a:r>
          </a:p>
          <a:p>
            <a:pPr lvl="2"/>
            <a:r>
              <a:rPr lang="en-US" sz="1800" dirty="0"/>
              <a:t>recommender systems and item baskets</a:t>
            </a:r>
          </a:p>
          <a:p>
            <a:pPr lvl="2"/>
            <a:r>
              <a:rPr lang="en-US" sz="1800" dirty="0"/>
              <a:t>biomedical and multimodal relational data, </a:t>
            </a:r>
          </a:p>
          <a:p>
            <a:pPr lvl="2"/>
            <a:r>
              <a:rPr lang="en-US" sz="1800" dirty="0"/>
              <a:t>and many more..</a:t>
            </a:r>
          </a:p>
          <a:p>
            <a:pPr marL="914400" lvl="2" indent="0">
              <a:buNone/>
            </a:pPr>
            <a:endParaRPr lang="en-US" sz="1800" dirty="0"/>
          </a:p>
          <a:p>
            <a:r>
              <a:rPr lang="en-US" sz="2400" dirty="0"/>
              <a:t>Hypergraph Neural Networks (HGNNs) are increasingly used for node classification and related prediction tasks.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Recent works showed that HGNNs are vulnerable to adversarial perturbations.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35E940A-15E8-849B-590E-9EB86A2338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53272" y="6183660"/>
            <a:ext cx="1938728" cy="674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913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21"/>
    </mc:Choice>
    <mc:Fallback xmlns="">
      <p:transition spd="slow" advTm="122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886D5-72C3-C051-FF78-F66312F33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C2B52-FF86-1234-4D3A-C8E4F783C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4ABA0A-4BF1-3D5E-3E10-F3229E7060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6144"/>
            <a:ext cx="10515600" cy="3855866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SG" sz="2600" b="1" dirty="0"/>
              <a:t>Existing attacks are white-box</a:t>
            </a:r>
            <a:r>
              <a:rPr lang="en-SG" sz="2600" dirty="0"/>
              <a:t> (</a:t>
            </a:r>
            <a:r>
              <a:rPr lang="en-SG" sz="2600" dirty="0" err="1"/>
              <a:t>HyperAttack</a:t>
            </a:r>
            <a:r>
              <a:rPr lang="en-SG" sz="2600" dirty="0"/>
              <a:t>, MGHGA, etc.)</a:t>
            </a:r>
          </a:p>
          <a:p>
            <a:pPr lvl="1"/>
            <a:r>
              <a:rPr lang="en-SG" dirty="0"/>
              <a:t>unrealistic (e.g. In recommender systems, it is unrealistic to assume that the attacker has access to proprietary model parameters.)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b="1" dirty="0"/>
              <a:t>Existing attacks are limited to either node features or hypergraph structure, but not both.</a:t>
            </a:r>
            <a:endParaRPr lang="en-SG" dirty="0"/>
          </a:p>
          <a:p>
            <a:pPr lvl="1"/>
            <a:r>
              <a:rPr lang="en-SG" dirty="0">
                <a:solidFill>
                  <a:schemeClr val="accent1"/>
                </a:solidFill>
              </a:rPr>
              <a:t>We propose attacks in </a:t>
            </a:r>
            <a:r>
              <a:rPr lang="en-SG" dirty="0" err="1">
                <a:solidFill>
                  <a:schemeClr val="accent1"/>
                </a:solidFill>
              </a:rPr>
              <a:t>gray</a:t>
            </a:r>
            <a:r>
              <a:rPr lang="en-SG" dirty="0">
                <a:solidFill>
                  <a:schemeClr val="accent1"/>
                </a:solidFill>
              </a:rPr>
              <a:t>-box setting (attacker knows the training labels, but not the model params)</a:t>
            </a:r>
          </a:p>
          <a:p>
            <a:pPr marL="457200" lvl="1" indent="0">
              <a:buNone/>
            </a:pPr>
            <a:endParaRPr lang="en-SG" dirty="0">
              <a:solidFill>
                <a:schemeClr val="accent1"/>
              </a:solidFill>
            </a:endParaRPr>
          </a:p>
          <a:p>
            <a:pPr lvl="1"/>
            <a:r>
              <a:rPr lang="en-US" sz="2000" dirty="0">
                <a:solidFill>
                  <a:schemeClr val="accent1"/>
                </a:solidFill>
              </a:rPr>
              <a:t>We consider both structural and feature perturbations. </a:t>
            </a:r>
          </a:p>
          <a:p>
            <a:pPr marL="457200" lvl="1" indent="0">
              <a:buNone/>
            </a:pPr>
            <a:endParaRPr lang="en-US" sz="2000" dirty="0">
              <a:solidFill>
                <a:schemeClr val="accent1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SG" sz="2600" b="1" dirty="0"/>
              <a:t>There is no adversarial training mechanism for HGNN’s </a:t>
            </a:r>
            <a:r>
              <a:rPr lang="en-SG" sz="2600" b="1" dirty="0" err="1"/>
              <a:t>defense</a:t>
            </a:r>
            <a:r>
              <a:rPr lang="en-SG" sz="2600" b="1" dirty="0"/>
              <a:t>.</a:t>
            </a:r>
          </a:p>
          <a:p>
            <a:pPr lvl="1"/>
            <a:r>
              <a:rPr lang="en-SG" sz="2200" dirty="0">
                <a:solidFill>
                  <a:schemeClr val="accent1"/>
                </a:solidFill>
              </a:rPr>
              <a:t>We propose </a:t>
            </a:r>
            <a:r>
              <a:rPr lang="en-SG" sz="2200" dirty="0" err="1">
                <a:solidFill>
                  <a:schemeClr val="accent1"/>
                </a:solidFill>
              </a:rPr>
              <a:t>MeLA</a:t>
            </a:r>
            <a:r>
              <a:rPr lang="en-SG" sz="2200" dirty="0">
                <a:solidFill>
                  <a:schemeClr val="accent1"/>
                </a:solidFill>
              </a:rPr>
              <a:t>-D: an adversarial training mechanism to </a:t>
            </a:r>
            <a:r>
              <a:rPr lang="en-SG" sz="2200" dirty="0" err="1">
                <a:solidFill>
                  <a:schemeClr val="accent1"/>
                </a:solidFill>
              </a:rPr>
              <a:t>robustify</a:t>
            </a:r>
            <a:r>
              <a:rPr lang="en-SG" sz="2200" dirty="0">
                <a:solidFill>
                  <a:schemeClr val="accent1"/>
                </a:solidFill>
              </a:rPr>
              <a:t> HGNNs.</a:t>
            </a:r>
            <a:endParaRPr lang="en-US" sz="2200" dirty="0">
              <a:solidFill>
                <a:schemeClr val="accent1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B74D484-BBA9-192E-412D-965A3DBDB4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53272" y="6183660"/>
            <a:ext cx="1938728" cy="674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056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0F943-2A4F-2065-1292-FDBB4D2EA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C3022-C8EB-9934-EF77-BBCD61D64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Problem Statement &amp; Threat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2C9056-FDBE-C2BA-48D2-273EAA7CCE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b="1" dirty="0"/>
                  <a:t>Problem: Semi-Supervised Node Classification task on Hypergraphs</a:t>
                </a:r>
              </a:p>
              <a:p>
                <a:r>
                  <a:rPr lang="en-US" sz="2200" b="1" dirty="0"/>
                  <a:t>Inputs: </a:t>
                </a:r>
                <a:r>
                  <a:rPr lang="en-US" sz="2200" dirty="0"/>
                  <a:t>incidence matrix </a:t>
                </a:r>
                <a14:m>
                  <m:oMath xmlns:m="http://schemas.openxmlformats.org/officeDocument/2006/math">
                    <m:r>
                      <a:rPr lang="en-US" sz="2200" b="1" i="1" dirty="0" smtClean="0"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sz="2200" dirty="0"/>
                  <a:t>, node features </a:t>
                </a:r>
                <a14:m>
                  <m:oMath xmlns:m="http://schemas.openxmlformats.org/officeDocument/2006/math">
                    <m:r>
                      <a:rPr lang="en-US" sz="2200" b="1" i="1" dirty="0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sz="2200" dirty="0"/>
                  <a:t>, and training labels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sz="2200" dirty="0"/>
                  <a:t>.</a:t>
                </a:r>
              </a:p>
              <a:p>
                <a:pPr marL="0" indent="0">
                  <a:buNone/>
                </a:pPr>
                <a:endParaRPr lang="en-US" sz="2200" dirty="0"/>
              </a:p>
              <a:p>
                <a:r>
                  <a:rPr lang="en-US" sz="2200" b="1" dirty="0"/>
                  <a:t>Attacker goal: </a:t>
                </a:r>
                <a:r>
                  <a:rPr lang="en-US" sz="2200" dirty="0"/>
                  <a:t>Degrade target HGNN accuracy using budgeted perturbations.</a:t>
                </a:r>
              </a:p>
              <a:p>
                <a:pPr lvl="1"/>
                <a:r>
                  <a:rPr lang="en-US" sz="2000" u="sng" dirty="0"/>
                  <a:t>Structural perturbations:</a:t>
                </a:r>
                <a:r>
                  <a:rPr lang="en-US" sz="2000" dirty="0"/>
                  <a:t> flip entries of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sz="2000" dirty="0"/>
                  <a:t> under budget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0" dirty="0" smtClean="0">
                            <a:latin typeface="Cambria Math" panose="02040503050406030204" pitchFamily="18" charset="0"/>
                          </a:rPr>
                          <m:t>𝚫</m:t>
                        </m:r>
                      </m:e>
                      <m:sub>
                        <m:r>
                          <a:rPr lang="en-US" sz="2000" b="1" i="1" dirty="0" err="1" smtClean="0">
                            <a:latin typeface="Cambria Math" panose="02040503050406030204" pitchFamily="18" charset="0"/>
                          </a:rPr>
                          <m:t>𝑯</m:t>
                        </m:r>
                      </m:sub>
                    </m:sSub>
                  </m:oMath>
                </a14:m>
                <a:r>
                  <a:rPr lang="en-US" sz="20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b="1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>
                                        <a:latin typeface="Cambria Math" panose="02040503050406030204" pitchFamily="18" charset="0"/>
                                      </a:rPr>
                                      <m:t>𝜟</m:t>
                                    </m:r>
                                  </m:e>
                                  <m:sub>
                                    <m:r>
                                      <a:rPr lang="en-US" sz="2000" b="1" i="1" dirty="0" err="1">
                                        <a:latin typeface="Cambria Math" panose="02040503050406030204" pitchFamily="18" charset="0"/>
                                      </a:rPr>
                                      <m:t>𝑯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</m:oMath>
                </a14:m>
                <a:r>
                  <a:rPr lang="en-US" sz="2000" dirty="0"/>
                  <a:t>.</a:t>
                </a:r>
              </a:p>
              <a:p>
                <a:pPr lvl="1"/>
                <a:r>
                  <a:rPr lang="en-US" sz="2000" u="sng" dirty="0"/>
                  <a:t>Feature perturbations:</a:t>
                </a:r>
                <a:r>
                  <a:rPr lang="en-US" sz="2000" dirty="0"/>
                  <a:t> modify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sz="2000" dirty="0"/>
                  <a:t> under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budget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0" dirty="0" smtClean="0">
                            <a:latin typeface="Cambria Math" panose="02040503050406030204" pitchFamily="18" charset="0"/>
                          </a:rPr>
                          <m:t>𝚫</m:t>
                        </m:r>
                      </m:e>
                      <m:sub>
                        <m:r>
                          <a:rPr lang="en-US" sz="2000" b="1" i="1" dirty="0" err="1" smtClean="0"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</m:oMath>
                </a14:m>
                <a:r>
                  <a:rPr lang="en-US" sz="20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0" dirty="0" smtClean="0">
                            <a:latin typeface="Cambria Math" panose="02040503050406030204" pitchFamily="18" charset="0"/>
                          </a:rPr>
                          <m:t>||</m:t>
                        </m:r>
                        <m:r>
                          <a:rPr lang="en-US" sz="2000" b="1" i="1" dirty="0">
                            <a:latin typeface="Cambria Math" panose="02040503050406030204" pitchFamily="18" charset="0"/>
                          </a:rPr>
                          <m:t>𝜟</m:t>
                        </m:r>
                      </m:e>
                      <m:sub>
                        <m:r>
                          <a:rPr lang="en-US" sz="2000" b="1" i="1" dirty="0" err="1"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sz="2000" dirty="0"/>
                  <a:t> .</a:t>
                </a:r>
              </a:p>
              <a:p>
                <a:pPr marL="457200" lvl="1" indent="0">
                  <a:buNone/>
                </a:pPr>
                <a:endParaRPr lang="en-US" sz="2000" dirty="0"/>
              </a:p>
              <a:p>
                <a:r>
                  <a:rPr lang="en-US" sz="2200" b="1" dirty="0"/>
                  <a:t>Gray-box:</a:t>
                </a:r>
                <a:r>
                  <a:rPr lang="en-US" sz="2200" dirty="0"/>
                  <a:t> attacker knows </a:t>
                </a:r>
                <a14:m>
                  <m:oMath xmlns:m="http://schemas.openxmlformats.org/officeDocument/2006/math">
                    <m:r>
                      <a:rPr lang="en-US" sz="2200" b="1" i="1" dirty="0" smtClean="0"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sz="2200" b="1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200" b="1" i="1" dirty="0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sz="2200" b="1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sz="2200" dirty="0"/>
                  <a:t>, but not target HGNN parameters.</a:t>
                </a:r>
              </a:p>
              <a:p>
                <a:pPr marL="0" indent="0">
                  <a:buNone/>
                </a:pPr>
                <a:endParaRPr lang="en-US" sz="2200" dirty="0"/>
              </a:p>
              <a:p>
                <a:r>
                  <a:rPr lang="en-US" sz="2200" b="1" dirty="0"/>
                  <a:t>Evaluation:</a:t>
                </a:r>
              </a:p>
              <a:p>
                <a:pPr lvl="1"/>
                <a:r>
                  <a:rPr lang="en-US" sz="2000" u="sng" dirty="0"/>
                  <a:t>Poisoning setting: </a:t>
                </a:r>
                <a:r>
                  <a:rPr lang="en-US" sz="2000" dirty="0"/>
                  <a:t>Attacker perturbs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sz="2000" b="1" dirty="0"/>
                  <a:t> </a:t>
                </a:r>
                <a:r>
                  <a:rPr lang="en-US" sz="2000" dirty="0"/>
                  <a:t>before model training.</a:t>
                </a:r>
              </a:p>
              <a:p>
                <a:pPr lvl="1"/>
                <a:r>
                  <a:rPr lang="en-US" sz="2000" u="sng" dirty="0"/>
                  <a:t>Evasion setting: </a:t>
                </a:r>
                <a:r>
                  <a:rPr lang="en-US" sz="2000" dirty="0"/>
                  <a:t>Attacker perturbs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sz="2000" b="1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1" i="1" dirty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sz="2000" b="1" dirty="0"/>
                  <a:t> </a:t>
                </a:r>
                <a:r>
                  <a:rPr lang="en-US" sz="2000" dirty="0"/>
                  <a:t>after the model is trained.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2C9056-FDBE-C2BA-48D2-273EAA7CCE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14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Graphic 3">
            <a:extLst>
              <a:ext uri="{FF2B5EF4-FFF2-40B4-BE49-F238E27FC236}">
                <a16:creationId xmlns:a16="http://schemas.microsoft.com/office/drawing/2014/main" id="{E75B56B1-E757-4DA6-7262-CF616951A5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53272" y="6183660"/>
            <a:ext cx="1938728" cy="674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963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FECE0-7D1B-9F16-84A8-F50828B93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65E24-A187-22F1-0ADB-DC13DE628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 err="1"/>
              <a:t>MeLA</a:t>
            </a:r>
            <a:r>
              <a:rPr lang="en-SG" b="1" dirty="0"/>
              <a:t>: The </a:t>
            </a:r>
            <a:r>
              <a:rPr lang="en-SG" b="1" u="sng" dirty="0"/>
              <a:t>Me</a:t>
            </a:r>
            <a:r>
              <a:rPr lang="en-SG" b="1" dirty="0"/>
              <a:t>ta-</a:t>
            </a:r>
            <a:r>
              <a:rPr lang="en-SG" b="1" u="sng" dirty="0"/>
              <a:t>L</a:t>
            </a:r>
            <a:r>
              <a:rPr lang="en-SG" b="1" dirty="0"/>
              <a:t>aplacian </a:t>
            </a:r>
            <a:r>
              <a:rPr lang="en-SG" b="1" u="sng" dirty="0"/>
              <a:t>A</a:t>
            </a:r>
            <a:r>
              <a:rPr lang="en-SG" b="1" dirty="0"/>
              <a:t>ttack Objective</a:t>
            </a:r>
            <a:endParaRPr 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BB7F67-A219-30D5-60D1-6C916B3C42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96143"/>
                <a:ext cx="10515600" cy="4783796"/>
              </a:xfrm>
            </p:spPr>
            <p:txBody>
              <a:bodyPr>
                <a:normAutofit fontScale="62500" lnSpcReduction="20000"/>
              </a:bodyPr>
              <a:lstStyle/>
              <a:p>
                <a:r>
                  <a:rPr lang="en-US" dirty="0"/>
                  <a:t>MeLA trains a surrogate HGNN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en-US" dirty="0"/>
                  <a:t> on clean hypergraph.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It then finds perturbations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𝛥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𝛥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that </a:t>
                </a:r>
                <a:r>
                  <a:rPr lang="en-US" b="1" dirty="0"/>
                  <a:t>maximizes</a:t>
                </a:r>
                <a:r>
                  <a:rPr lang="en-US" dirty="0"/>
                  <a:t> the following</a:t>
                </a:r>
                <a:r>
                  <a:rPr lang="en-US" b="1" dirty="0"/>
                  <a:t> meta-objective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𝒎𝒆𝒕𝒂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𝑚𝑒𝑡𝑎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𝛥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𝑯</m:t>
                          </m:r>
                          <m:r>
                            <a:rPr lang="en-US" b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𝛥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b="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𝑠𝑚𝑜𝑜𝑡h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𝛥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𝑯</m:t>
                          </m:r>
                          <m:r>
                            <a:rPr lang="en-US" b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𝛥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b="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𝛽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𝑠𝑡𝑒𝑎𝑙𝑡h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𝛥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𝑯</m:t>
                          </m:r>
                          <m:r>
                            <a:rPr lang="en-US" b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𝛥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b="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𝑡𝑟𝑎𝑖𝑛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𝛥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𝑯</m:t>
                          </m:r>
                          <m:r>
                            <a:rPr lang="en-US" b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𝛥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i="1" dirty="0"/>
                  <a:t>such that 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𝑎𝑟𝑔𝑚𝑖𝑛</m:t>
                          </m:r>
                        </m:e>
                        <m: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𝑡𝑟𝑎𝑖𝑛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𝑯</m:t>
                          </m:r>
                          <m:r>
                            <a:rPr lang="en-US" b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𝛥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𝑯</m:t>
                          </m:r>
                          <m:r>
                            <a:rPr lang="en-US" b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n-US" b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𝛥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b="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b="0" i="1">
                          <a:latin typeface="Cambria Math" panose="02040503050406030204" pitchFamily="18" charset="0"/>
                        </a:rPr>
                        <m:t>),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 objective combines: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pPr lvl="1"/>
                <a:r>
                  <a:rPr lang="en-US" b="1" dirty="0"/>
                  <a:t>Laplacian smoothing drift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𝒔𝒎𝒐𝒐𝒕𝒉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/>
                  <a:t>: </a:t>
                </a:r>
                <a:r>
                  <a:rPr lang="en-US" dirty="0"/>
                  <a:t>disrupt message passing behavior</a:t>
                </a:r>
              </a:p>
              <a:p>
                <a:pPr marL="457200" lvl="1" indent="0">
                  <a:buNone/>
                </a:pPr>
                <a:r>
                  <a:rPr lang="en-US" dirty="0"/>
                  <a:t>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𝑠𝑚𝑜𝑜𝑡h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𝑝𝑒𝑟𝑡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𝒁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𝑝𝑒𝑟𝑡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𝑜𝑟𝑖𝑔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𝒁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𝑜𝑟𝑖𝑔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b="0" dirty="0">
                    <a:latin typeface="Cambria Math" panose="02040503050406030204" pitchFamily="18" charset="0"/>
                  </a:rPr>
                  <a:t>,	where</a:t>
                </a:r>
              </a:p>
              <a:p>
                <a:pPr marL="457200" lvl="1" indent="0">
                  <a:buNone/>
                </a:pPr>
                <a:r>
                  <a:rPr lang="en-US" b="0" dirty="0">
                    <a:latin typeface="Cambria Math" panose="02040503050406030204" pitchFamily="18" charset="0"/>
                  </a:rPr>
                  <a:t>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𝑳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𝑜𝑟𝑖𝑔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LAP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     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𝑳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𝑝𝑒𝑟𝑡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LAP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:r>
                  <a:rPr lang="en-US" b="0" dirty="0"/>
                  <a:t>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𝑜𝑟𝑖𝑔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𝑯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  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𝑝𝑒𝑟𝑡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𝑯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𝑯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 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  <a:p>
                <a:pPr lvl="1"/>
                <a:r>
                  <a:rPr lang="en-US" b="1" dirty="0"/>
                  <a:t>Stealth penalty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𝒔𝒕𝒆𝒂𝒍𝒕𝒉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/>
                  <a:t>: </a:t>
                </a:r>
                <a:r>
                  <a:rPr lang="en-US" dirty="0"/>
                  <a:t>discourage large degree shifts to promote un-noticeability.</a:t>
                </a:r>
              </a:p>
              <a:p>
                <a:pPr marL="457200" lvl="1" indent="0">
                  <a:buNone/>
                </a:pPr>
                <a:r>
                  <a:rPr lang="en-US" dirty="0"/>
                  <a:t>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𝑠𝑡𝑒𝑎𝑙𝑡h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||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𝑝𝑒𝑟𝑡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𝑜𝑟𝑖𝑔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Classification loss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𝒕𝒓𝒂𝒊𝒏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/>
                  <a:t>: </a:t>
                </a:r>
                <a:r>
                  <a:rPr lang="en-US" dirty="0"/>
                  <a:t>make prediction harder (cross-entropy loss)</a:t>
                </a:r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BB7F67-A219-30D5-60D1-6C916B3C42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96143"/>
                <a:ext cx="10515600" cy="4783796"/>
              </a:xfrm>
              <a:blipFill>
                <a:blip r:embed="rId2"/>
                <a:stretch>
                  <a:fillRect l="-483" t="-21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Graphic 3">
            <a:extLst>
              <a:ext uri="{FF2B5EF4-FFF2-40B4-BE49-F238E27FC236}">
                <a16:creationId xmlns:a16="http://schemas.microsoft.com/office/drawing/2014/main" id="{7CB7718D-8B53-A436-E19A-1A2379579C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53272" y="6183660"/>
            <a:ext cx="1938728" cy="674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533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CBFB1-9F9B-247A-38E9-A7C5A4332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04329-B147-D607-70C2-6A9FC04F8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sz="3600" b="1" dirty="0"/>
              <a:t>Attack variants: </a:t>
            </a:r>
            <a:r>
              <a:rPr lang="en-SG" sz="3600" b="1" dirty="0" err="1"/>
              <a:t>MeLA</a:t>
            </a:r>
            <a:r>
              <a:rPr lang="en-SG" sz="3600" b="1" dirty="0"/>
              <a:t>-FGSM vs </a:t>
            </a:r>
            <a:r>
              <a:rPr lang="en-SG" sz="3600" b="1" dirty="0" err="1"/>
              <a:t>MeLA</a:t>
            </a:r>
            <a:r>
              <a:rPr lang="en-SG" sz="3600" b="1" dirty="0"/>
              <a:t>-PGD</a:t>
            </a:r>
            <a:endParaRPr lang="en-US" sz="36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922B39E7-1D0B-1437-E5B7-BBA76315E194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029419201"/>
                  </p:ext>
                </p:extLst>
              </p:nvPr>
            </p:nvGraphicFramePr>
            <p:xfrm>
              <a:off x="739333" y="1106950"/>
              <a:ext cx="10713334" cy="3073165"/>
            </p:xfrm>
            <a:graphic>
              <a:graphicData uri="http://schemas.openxmlformats.org/drawingml/2006/table">
                <a:tbl>
                  <a:tblPr firstRow="1" bandRow="1">
                    <a:tableStyleId>{F2DE63D5-997A-4646-A377-4702673A728D}</a:tableStyleId>
                  </a:tblPr>
                  <a:tblGrid>
                    <a:gridCol w="4499757">
                      <a:extLst>
                        <a:ext uri="{9D8B030D-6E8A-4147-A177-3AD203B41FA5}">
                          <a16:colId xmlns:a16="http://schemas.microsoft.com/office/drawing/2014/main" val="1342317665"/>
                        </a:ext>
                      </a:extLst>
                    </a:gridCol>
                    <a:gridCol w="6213577">
                      <a:extLst>
                        <a:ext uri="{9D8B030D-6E8A-4147-A177-3AD203B41FA5}">
                          <a16:colId xmlns:a16="http://schemas.microsoft.com/office/drawing/2014/main" val="665097775"/>
                        </a:ext>
                      </a:extLst>
                    </a:gridCol>
                  </a:tblGrid>
                  <a:tr h="4265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MeLA</a:t>
                          </a:r>
                          <a:r>
                            <a:rPr lang="en-US" dirty="0"/>
                            <a:t>-FGSM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MeLA</a:t>
                          </a:r>
                          <a:r>
                            <a:rPr lang="en-US" dirty="0"/>
                            <a:t>-PGD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45392618"/>
                      </a:ext>
                    </a:extLst>
                  </a:tr>
                  <a:tr h="4265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Single Gradient-step (T=1)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SG" dirty="0"/>
                            <a:t>Multi-step projected ascent (T&gt;1)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68572845"/>
                      </a:ext>
                    </a:extLst>
                  </a:tr>
                  <a:tr h="4265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SG" dirty="0"/>
                            <a:t>one signed step at the full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8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dirty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1800" i="1" dirty="0">
                                      <a:latin typeface="Cambria Math" panose="02040503050406030204" pitchFamily="18" charset="0"/>
                                    </a:rPr>
                                    <m:t>∞</m:t>
                                  </m:r>
                                </m:sub>
                              </m:sSub>
                              <m: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SG" dirty="0"/>
                            <a:t> budget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SG" dirty="0"/>
                            <a:t>iterative signed steps, re-projected to budget each step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92014864"/>
                      </a:ext>
                    </a:extLst>
                  </a:tr>
                  <a:tr h="4265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SG" dirty="0"/>
                            <a:t>Gradient taken once, at the clean Laplacian 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SG" dirty="0"/>
                            <a:t>Gradient </a:t>
                          </a:r>
                          <a:r>
                            <a:rPr lang="en-SG" b="1" dirty="0"/>
                            <a:t>recomputed </a:t>
                          </a:r>
                          <a:r>
                            <a:rPr lang="en-SG" b="0" dirty="0"/>
                            <a:t>at the</a:t>
                          </a:r>
                          <a:r>
                            <a:rPr lang="en-SG" b="1" dirty="0"/>
                            <a:t> perturbed Laplacian</a:t>
                          </a:r>
                          <a:r>
                            <a:rPr lang="en-SG" dirty="0"/>
                            <a:t> every step 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7785273"/>
                      </a:ext>
                    </a:extLst>
                  </a:tr>
                  <a:tr h="136714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SG" dirty="0"/>
                            <a:t>Best fit: </a:t>
                          </a:r>
                        </a:p>
                        <a:p>
                          <a:pPr algn="ctr"/>
                          <a:r>
                            <a:rPr lang="en-SG" b="1" dirty="0"/>
                            <a:t>evasion-</a:t>
                          </a:r>
                          <a:r>
                            <a:rPr lang="en-SG" dirty="0"/>
                            <a:t> model is frozen, so a one-shot step already matches the setting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SG" dirty="0"/>
                            <a:t>Best fit: </a:t>
                          </a:r>
                        </a:p>
                        <a:p>
                          <a:pPr algn="ctr"/>
                          <a:r>
                            <a:rPr lang="en-SG" b="1" dirty="0"/>
                            <a:t>poisoning &amp; nonlinear regimes- </a:t>
                          </a:r>
                          <a:r>
                            <a:rPr lang="en-SG" dirty="0"/>
                            <a:t>re-checking the gradient each step corrects the attack direction as the Laplacian shifts. 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3537540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922B39E7-1D0B-1437-E5B7-BBA76315E194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029419201"/>
                  </p:ext>
                </p:extLst>
              </p:nvPr>
            </p:nvGraphicFramePr>
            <p:xfrm>
              <a:off x="739333" y="1106950"/>
              <a:ext cx="10713334" cy="3073165"/>
            </p:xfrm>
            <a:graphic>
              <a:graphicData uri="http://schemas.openxmlformats.org/drawingml/2006/table">
                <a:tbl>
                  <a:tblPr firstRow="1" bandRow="1">
                    <a:tableStyleId>{F2DE63D5-997A-4646-A377-4702673A728D}</a:tableStyleId>
                  </a:tblPr>
                  <a:tblGrid>
                    <a:gridCol w="4499757">
                      <a:extLst>
                        <a:ext uri="{9D8B030D-6E8A-4147-A177-3AD203B41FA5}">
                          <a16:colId xmlns:a16="http://schemas.microsoft.com/office/drawing/2014/main" val="1342317665"/>
                        </a:ext>
                      </a:extLst>
                    </a:gridCol>
                    <a:gridCol w="6213577">
                      <a:extLst>
                        <a:ext uri="{9D8B030D-6E8A-4147-A177-3AD203B41FA5}">
                          <a16:colId xmlns:a16="http://schemas.microsoft.com/office/drawing/2014/main" val="665097775"/>
                        </a:ext>
                      </a:extLst>
                    </a:gridCol>
                  </a:tblGrid>
                  <a:tr h="4265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MeLA</a:t>
                          </a:r>
                          <a:r>
                            <a:rPr lang="en-US" dirty="0"/>
                            <a:t>-FGSM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MeLA</a:t>
                          </a:r>
                          <a:r>
                            <a:rPr lang="en-US" dirty="0"/>
                            <a:t>-PGD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45392618"/>
                      </a:ext>
                    </a:extLst>
                  </a:tr>
                  <a:tr h="4265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Single Gradient-step (T=1)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SG" dirty="0"/>
                            <a:t>Multi-step projected ascent (T&gt;1)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68572845"/>
                      </a:ext>
                    </a:extLst>
                  </a:tr>
                  <a:tr h="42650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82" t="-205882" r="-138701" b="-417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SG" dirty="0"/>
                            <a:t>iterative signed steps, re-projected to budget each step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92014864"/>
                      </a:ext>
                    </a:extLst>
                  </a:tr>
                  <a:tr h="4265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SG" dirty="0"/>
                            <a:t>Gradient taken once, at the clean Laplacian 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SG" dirty="0"/>
                            <a:t>Gradient </a:t>
                          </a:r>
                          <a:r>
                            <a:rPr lang="en-SG" b="1" dirty="0"/>
                            <a:t>recomputed </a:t>
                          </a:r>
                          <a:r>
                            <a:rPr lang="en-SG" b="0" dirty="0"/>
                            <a:t>at the</a:t>
                          </a:r>
                          <a:r>
                            <a:rPr lang="en-SG" b="1" dirty="0"/>
                            <a:t> perturbed Laplacian</a:t>
                          </a:r>
                          <a:r>
                            <a:rPr lang="en-SG" dirty="0"/>
                            <a:t> every step 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7785273"/>
                      </a:ext>
                    </a:extLst>
                  </a:tr>
                  <a:tr h="136714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SG" dirty="0"/>
                            <a:t>Best fit: </a:t>
                          </a:r>
                        </a:p>
                        <a:p>
                          <a:pPr algn="ctr"/>
                          <a:r>
                            <a:rPr lang="en-SG" b="1" dirty="0"/>
                            <a:t>evasion-</a:t>
                          </a:r>
                          <a:r>
                            <a:rPr lang="en-SG" dirty="0"/>
                            <a:t> model is frozen, so a one-shot step already matches the setting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SG" dirty="0"/>
                            <a:t>Best fit: </a:t>
                          </a:r>
                        </a:p>
                        <a:p>
                          <a:pPr algn="ctr"/>
                          <a:r>
                            <a:rPr lang="en-SG" b="1" dirty="0"/>
                            <a:t>poisoning &amp; nonlinear regimes- </a:t>
                          </a:r>
                          <a:r>
                            <a:rPr lang="en-SG" dirty="0"/>
                            <a:t>re-checking the gradient each step corrects the attack direction as the Laplacian shifts. 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35375407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4" name="Graphic 3">
            <a:extLst>
              <a:ext uri="{FF2B5EF4-FFF2-40B4-BE49-F238E27FC236}">
                <a16:creationId xmlns:a16="http://schemas.microsoft.com/office/drawing/2014/main" id="{0CB4FDEC-DC90-EB2B-B2AA-B832EBE934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53272" y="6183660"/>
            <a:ext cx="1938728" cy="674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36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3E7F5-9139-1262-40B7-EAA807F18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09755-C40D-72CB-67AF-A3541724E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MeLA</a:t>
            </a:r>
            <a:r>
              <a:rPr lang="en-US" b="1" dirty="0"/>
              <a:t>-D: Defense via Adversarial Training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2C3477-71F0-3444-3C66-FCDFF316C5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96145"/>
                <a:ext cx="10515600" cy="3392728"/>
              </a:xfrm>
            </p:spPr>
            <p:txBody>
              <a:bodyPr>
                <a:normAutofit/>
              </a:bodyPr>
              <a:lstStyle/>
              <a:p>
                <a:r>
                  <a:rPr lang="en-US" sz="2200" dirty="0"/>
                  <a:t>To </a:t>
                </a:r>
                <a:r>
                  <a:rPr lang="en-US" sz="2200" dirty="0" err="1"/>
                  <a:t>robustify</a:t>
                </a:r>
                <a:r>
                  <a:rPr lang="en-US" sz="2200" dirty="0"/>
                  <a:t> target HGNN, </a:t>
                </a:r>
                <a:r>
                  <a:rPr lang="en-US" sz="2200" dirty="0" err="1"/>
                  <a:t>MeLA</a:t>
                </a:r>
                <a:r>
                  <a:rPr lang="en-US" sz="2200" dirty="0"/>
                  <a:t>-D repeatedly:</a:t>
                </a:r>
              </a:p>
              <a:p>
                <a:pPr lvl="1"/>
                <a:r>
                  <a:rPr lang="en-US" sz="2000" dirty="0"/>
                  <a:t>generates MeLA-style adversarial perturbations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1" i="0" dirty="0" smtClean="0">
                        <a:latin typeface="Cambria Math" panose="02040503050406030204" pitchFamily="18" charset="0"/>
                      </a:rPr>
                      <m:t>𝚫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1" i="0" dirty="0" smtClean="0">
                        <a:latin typeface="Cambria Math" panose="02040503050406030204" pitchFamily="18" charset="0"/>
                      </a:rPr>
                      <m:t>𝚫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via continuous relaxation.</a:t>
                </a:r>
              </a:p>
              <a:p>
                <a:pPr lvl="1"/>
                <a:r>
                  <a:rPr lang="en-US" sz="2000" dirty="0"/>
                  <a:t>trains the target HGNN on the perturbed hypergraph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1" i="0" dirty="0" smtClean="0">
                        <a:latin typeface="Cambria Math" panose="02040503050406030204" pitchFamily="18" charset="0"/>
                      </a:rPr>
                      <m:t>𝐇</m:t>
                    </m:r>
                    <m:r>
                      <a:rPr lang="en-US" sz="2000" b="0" i="0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1" i="1" dirty="0">
                        <a:latin typeface="Cambria Math" panose="02040503050406030204" pitchFamily="18" charset="0"/>
                      </a:rPr>
                      <m:t>𝜟</m:t>
                    </m:r>
                    <m:r>
                      <a:rPr lang="en-US" sz="2000" b="1" i="1" dirty="0"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1" i="0" dirty="0" smtClean="0"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US" sz="2000" b="0" i="0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1" i="1" dirty="0">
                        <a:latin typeface="Cambria Math" panose="02040503050406030204" pitchFamily="18" charset="0"/>
                      </a:rPr>
                      <m:t>𝜟</m:t>
                    </m:r>
                    <m:r>
                      <a:rPr lang="en-US" sz="2000" b="1" i="1" dirty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pPr lvl="1"/>
                <a:r>
                  <a:rPr lang="en-US" sz="2000" dirty="0"/>
                  <a:t>projects perturbations back to the allowed budgets via top-k. </a:t>
                </a:r>
              </a:p>
              <a:p>
                <a:pPr marL="457200" lvl="1" indent="0">
                  <a:buNone/>
                </a:pPr>
                <a:endParaRPr lang="en-US" sz="2000" dirty="0"/>
              </a:p>
              <a:p>
                <a:r>
                  <a:rPr lang="en-US" sz="2000" b="1" dirty="0"/>
                  <a:t>Convergence behavior: </a:t>
                </a:r>
                <a:r>
                  <a:rPr lang="en-US" sz="2000" dirty="0"/>
                  <a:t>Under local smoothness, local concavity, and bounded stochastic-gradient variance assumptions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sz="2000" dirty="0" err="1"/>
                  <a:t>MeLA</a:t>
                </a:r>
                <a:r>
                  <a:rPr lang="en-US" sz="2000" dirty="0"/>
                  <a:t>-D converges to a first-order stationary point of the relaxed robust-training objective at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sz="2000" b="1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000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dirty="0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p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2000" b="1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b="1" dirty="0"/>
                  <a:t>.</a:t>
                </a:r>
              </a:p>
              <a:p>
                <a:endParaRPr lang="en-US" sz="2000" b="1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2C3477-71F0-3444-3C66-FCDFF316C5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96145"/>
                <a:ext cx="10515600" cy="3392728"/>
              </a:xfrm>
              <a:blipFill>
                <a:blip r:embed="rId2"/>
                <a:stretch>
                  <a:fillRect l="-724" t="-2239" r="-9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Graphic 3">
            <a:extLst>
              <a:ext uri="{FF2B5EF4-FFF2-40B4-BE49-F238E27FC236}">
                <a16:creationId xmlns:a16="http://schemas.microsoft.com/office/drawing/2014/main" id="{CD0E7F7C-7B00-EE58-82BA-783713067A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53272" y="6183660"/>
            <a:ext cx="1938728" cy="674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362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807F1-0209-5ADA-43FC-47E2F333A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A008C-A624-462F-8925-E3633EFCC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Empirical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CDEC40-0BBC-8540-20A6-8BC3C68131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6144"/>
            <a:ext cx="10515600" cy="5087516"/>
          </a:xfrm>
        </p:spPr>
        <p:txBody>
          <a:bodyPr>
            <a:normAutofit/>
          </a:bodyPr>
          <a:lstStyle/>
          <a:p>
            <a:r>
              <a:rPr lang="en-US" sz="1800" b="1" dirty="0"/>
              <a:t>Datasets: </a:t>
            </a:r>
            <a:r>
              <a:rPr lang="en-US" sz="1800" dirty="0" err="1"/>
              <a:t>Citeseer</a:t>
            </a:r>
            <a:r>
              <a:rPr lang="en-US" sz="1800" dirty="0"/>
              <a:t>, Cora, Cora-CA, Large-scale datasets (OGBN-MAG, Trivago, Yelp, Walmart, Flickr)</a:t>
            </a:r>
          </a:p>
          <a:p>
            <a:r>
              <a:rPr lang="en-US" sz="1800" b="1" dirty="0"/>
              <a:t>Target HGNNs: </a:t>
            </a:r>
            <a:r>
              <a:rPr lang="en-US" sz="1800" dirty="0" err="1"/>
              <a:t>HyperMLP</a:t>
            </a:r>
            <a:r>
              <a:rPr lang="en-US" sz="1800" dirty="0"/>
              <a:t>, HGNN, </a:t>
            </a:r>
            <a:r>
              <a:rPr lang="en-US" sz="1800" dirty="0" err="1"/>
              <a:t>AllsetTransformer</a:t>
            </a:r>
            <a:endParaRPr lang="en-US" sz="1800" dirty="0"/>
          </a:p>
          <a:p>
            <a:r>
              <a:rPr lang="en-US" sz="1800" b="1" dirty="0"/>
              <a:t>Baseline attacks: </a:t>
            </a:r>
            <a:r>
              <a:rPr lang="en-US" sz="1800" dirty="0" err="1"/>
              <a:t>RandFeat</a:t>
            </a:r>
            <a:r>
              <a:rPr lang="en-US" sz="1800" dirty="0"/>
              <a:t>, </a:t>
            </a:r>
            <a:r>
              <a:rPr lang="en-US" sz="1800" dirty="0" err="1"/>
              <a:t>RandFlip</a:t>
            </a:r>
            <a:r>
              <a:rPr lang="en-US" sz="1800" dirty="0"/>
              <a:t>, </a:t>
            </a:r>
            <a:r>
              <a:rPr lang="en-US" sz="1800" dirty="0" err="1"/>
              <a:t>GradArgMax</a:t>
            </a:r>
            <a:r>
              <a:rPr lang="en-US" sz="1800" dirty="0"/>
              <a:t>, DICE, </a:t>
            </a:r>
            <a:r>
              <a:rPr lang="en-US" sz="1800" dirty="0" err="1"/>
              <a:t>HyperAttack</a:t>
            </a:r>
            <a:endParaRPr lang="en-US" sz="1800" dirty="0"/>
          </a:p>
          <a:p>
            <a:r>
              <a:rPr lang="en-US" sz="1800" b="1" dirty="0"/>
              <a:t>Attack performance: </a:t>
            </a:r>
            <a:r>
              <a:rPr lang="en-US" sz="1800" dirty="0" err="1"/>
              <a:t>MeLA</a:t>
            </a:r>
            <a:r>
              <a:rPr lang="en-US" sz="1800" dirty="0"/>
              <a:t>-PGD is the strongest attack.</a:t>
            </a:r>
          </a:p>
          <a:p>
            <a:pPr lvl="1"/>
            <a:r>
              <a:rPr lang="en-US" sz="1600" dirty="0"/>
              <a:t>Drop in accuracy:</a:t>
            </a:r>
          </a:p>
          <a:p>
            <a:pPr lvl="2"/>
            <a:r>
              <a:rPr lang="en-US" sz="1400" dirty="0"/>
              <a:t>up to 60.1% accuracy drop in poisoning</a:t>
            </a:r>
          </a:p>
          <a:p>
            <a:pPr lvl="2"/>
            <a:r>
              <a:rPr lang="en-US" sz="1400" dirty="0"/>
              <a:t>up to 75.9% accuracy drop in evasion</a:t>
            </a:r>
          </a:p>
          <a:p>
            <a:pPr lvl="2"/>
            <a:endParaRPr lang="en-US" sz="1400" dirty="0"/>
          </a:p>
          <a:p>
            <a:pPr marL="914400" lvl="2" indent="0">
              <a:buNone/>
            </a:pPr>
            <a:endParaRPr lang="en-US" sz="1400" dirty="0"/>
          </a:p>
          <a:p>
            <a:endParaRPr lang="en-US" sz="1800" b="1" dirty="0"/>
          </a:p>
          <a:p>
            <a:r>
              <a:rPr lang="en-US" sz="1800" b="1" dirty="0"/>
              <a:t>Defense performance: </a:t>
            </a:r>
            <a:r>
              <a:rPr lang="en-US" sz="1800" dirty="0" err="1"/>
              <a:t>MeLA-D+HyperMLP</a:t>
            </a:r>
            <a:r>
              <a:rPr lang="en-US" sz="1800" dirty="0"/>
              <a:t> gains against </a:t>
            </a:r>
            <a:r>
              <a:rPr lang="en-US" sz="1800" dirty="0" err="1"/>
              <a:t>MeLA</a:t>
            </a:r>
            <a:r>
              <a:rPr lang="en-US" sz="1800" dirty="0"/>
              <a:t>-PGD:</a:t>
            </a:r>
          </a:p>
          <a:p>
            <a:pPr lvl="1"/>
            <a:r>
              <a:rPr lang="en-US" sz="1600" dirty="0"/>
              <a:t>Gain in accuracy: </a:t>
            </a:r>
          </a:p>
          <a:p>
            <a:pPr lvl="2"/>
            <a:r>
              <a:rPr lang="en-US" sz="1400" dirty="0"/>
              <a:t>+28.12% points on </a:t>
            </a:r>
            <a:r>
              <a:rPr lang="en-US" sz="1400" dirty="0" err="1"/>
              <a:t>Citeseer</a:t>
            </a:r>
            <a:endParaRPr lang="en-US" sz="1400" dirty="0"/>
          </a:p>
          <a:p>
            <a:pPr lvl="2"/>
            <a:r>
              <a:rPr lang="en-US" sz="1400" dirty="0"/>
              <a:t>+41.60% points on Cora-CA</a:t>
            </a:r>
          </a:p>
          <a:p>
            <a:pPr lvl="2"/>
            <a:r>
              <a:rPr lang="en-US" sz="1400" dirty="0"/>
              <a:t>+31.14% points on Cora</a:t>
            </a:r>
          </a:p>
          <a:p>
            <a:pPr marL="457200" lvl="1" indent="0">
              <a:buNone/>
            </a:pPr>
            <a:endParaRPr lang="en-US" sz="1600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6BF6449-25A1-AA00-7436-37AEAED46A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53272" y="6183660"/>
            <a:ext cx="1938728" cy="6743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2D47DF-84DB-BFC1-F435-5279850792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4900" y="2501508"/>
            <a:ext cx="5876151" cy="1426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3964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BEB93-BF16-994E-C79B-3DB548225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D93CE-740F-3820-147E-B3A72D31F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32BF3-901C-EFC8-86FA-80E84F42D1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6145"/>
            <a:ext cx="10515600" cy="2893964"/>
          </a:xfrm>
        </p:spPr>
        <p:txBody>
          <a:bodyPr>
            <a:normAutofit/>
          </a:bodyPr>
          <a:lstStyle/>
          <a:p>
            <a:r>
              <a:rPr lang="en-US" sz="2400" dirty="0"/>
              <a:t>HGNNs are vulnerable under </a:t>
            </a:r>
            <a:r>
              <a:rPr lang="en-US" sz="2400" dirty="0">
                <a:solidFill>
                  <a:schemeClr val="accent1"/>
                </a:solidFill>
              </a:rPr>
              <a:t>realistic gray-box attacks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MeLA</a:t>
            </a:r>
            <a:r>
              <a:rPr lang="en-US" sz="2400" dirty="0"/>
              <a:t> gives a hypergraph-specific </a:t>
            </a:r>
            <a:r>
              <a:rPr lang="en-US" sz="2400" dirty="0">
                <a:solidFill>
                  <a:schemeClr val="accent1"/>
                </a:solidFill>
              </a:rPr>
              <a:t>attack framework </a:t>
            </a:r>
            <a:r>
              <a:rPr lang="en-US" sz="2400" dirty="0"/>
              <a:t>using a Laplacian-aware meta-objective.</a:t>
            </a:r>
          </a:p>
          <a:p>
            <a:pPr lvl="1"/>
            <a:r>
              <a:rPr lang="en-US" sz="2000" dirty="0" err="1"/>
              <a:t>MeLA</a:t>
            </a:r>
            <a:r>
              <a:rPr lang="en-US" sz="2000" dirty="0"/>
              <a:t>-FGSM and </a:t>
            </a:r>
            <a:r>
              <a:rPr lang="en-US" sz="2000" dirty="0" err="1"/>
              <a:t>MeLA</a:t>
            </a:r>
            <a:r>
              <a:rPr lang="en-US" sz="2000" dirty="0"/>
              <a:t>-PGD jointly perturb structure and features.</a:t>
            </a:r>
          </a:p>
          <a:p>
            <a:r>
              <a:rPr lang="en-US" sz="2400" dirty="0" err="1"/>
              <a:t>MeLA</a:t>
            </a:r>
            <a:r>
              <a:rPr lang="en-US" sz="2400" dirty="0"/>
              <a:t>-D turns the same adversarial signal into a practical </a:t>
            </a:r>
            <a:r>
              <a:rPr lang="en-US" sz="2400" dirty="0">
                <a:solidFill>
                  <a:schemeClr val="accent1"/>
                </a:solidFill>
              </a:rPr>
              <a:t>robust-training defense</a:t>
            </a:r>
            <a:r>
              <a:rPr lang="en-US" sz="2400" dirty="0"/>
              <a:t>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4510D98-88E1-504E-EA00-5A84485FF4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53272" y="6183660"/>
            <a:ext cx="1938728" cy="6743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1B6AFF3-21D2-32DE-E92E-2DE864F39C7D}"/>
              </a:ext>
            </a:extLst>
          </p:cNvPr>
          <p:cNvSpPr txBox="1"/>
          <p:nvPr/>
        </p:nvSpPr>
        <p:spPr>
          <a:xfrm>
            <a:off x="3109355" y="4739503"/>
            <a:ext cx="5973289" cy="707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68283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AIML-Presentation_20Feb2026" id="{1C1B3AE1-0CCD-914D-9D66-AA64B65ABE1D}" vid="{98A95C2A-3C26-384B-BA11-7F4F183CD9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5597</TotalTime>
  <Words>788</Words>
  <Application>Microsoft Macintosh PowerPoint</Application>
  <PresentationFormat>Widescreen</PresentationFormat>
  <Paragraphs>98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Times New Roman</vt:lpstr>
      <vt:lpstr>Office Theme</vt:lpstr>
      <vt:lpstr>Adversarial Attacks and Robust Training for Hypergraph Neural Networks</vt:lpstr>
      <vt:lpstr>Motivation</vt:lpstr>
      <vt:lpstr>Contributions</vt:lpstr>
      <vt:lpstr>Problem Statement &amp; Threat Model</vt:lpstr>
      <vt:lpstr>MeLA: The Meta-Laplacian Attack Objective</vt:lpstr>
      <vt:lpstr>Attack variants: MeLA-FGSM vs MeLA-PGD</vt:lpstr>
      <vt:lpstr>MeLA-D: Defense via Adversarial Training</vt:lpstr>
      <vt:lpstr>Empirical Results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Naheed Anjum Arafat</dc:creator>
  <cp:lastModifiedBy>Naheed Anjum Arafat</cp:lastModifiedBy>
  <cp:revision>58</cp:revision>
  <dcterms:created xsi:type="dcterms:W3CDTF">2026-05-31T00:27:57Z</dcterms:created>
  <dcterms:modified xsi:type="dcterms:W3CDTF">2026-06-11T13:22:07Z</dcterms:modified>
</cp:coreProperties>
</file>